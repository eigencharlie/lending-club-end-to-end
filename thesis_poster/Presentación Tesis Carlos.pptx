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77" r:id="rId3"/>
    <p:sldId id="272" r:id="rId4"/>
    <p:sldId id="257" r:id="rId5"/>
    <p:sldId id="275" r:id="rId6"/>
    <p:sldId id="273" r:id="rId7"/>
    <p:sldId id="274" r:id="rId8"/>
    <p:sldId id="258" r:id="rId9"/>
    <p:sldId id="276" r:id="rId10"/>
    <p:sldId id="260" r:id="rId11"/>
    <p:sldId id="259" r:id="rId12"/>
    <p:sldId id="261" r:id="rId13"/>
    <p:sldId id="264" r:id="rId14"/>
    <p:sldId id="265" r:id="rId15"/>
    <p:sldId id="266" r:id="rId16"/>
    <p:sldId id="267" r:id="rId17"/>
    <p:sldId id="268" r:id="rId18"/>
    <p:sldId id="269" r:id="rId19"/>
    <p:sldId id="262" r:id="rId20"/>
    <p:sldId id="263" r:id="rId21"/>
    <p:sldId id="270" r:id="rId22"/>
    <p:sldId id="271" r:id="rId2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53" d="100"/>
          <a:sy n="153" d="100"/>
        </p:scale>
        <p:origin x="576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3/6/2026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3/6/2026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3/6/2026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804672" y="1225296"/>
            <a:ext cx="7498079" cy="138499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s-CO" sz="2800" b="1" i="1" noProof="0" dirty="0">
                <a:solidFill>
                  <a:srgbClr val="FFFFFF"/>
                </a:solidFill>
                <a:latin typeface="Aptos Display"/>
              </a:rPr>
              <a:t>Conformal Prediction</a:t>
            </a:r>
            <a:r>
              <a:rPr lang="es-CO" sz="2800" b="1" noProof="0" dirty="0">
                <a:solidFill>
                  <a:srgbClr val="FFFFFF"/>
                </a:solidFill>
                <a:latin typeface="Aptos Display"/>
              </a:rPr>
              <a:t> para la calibración y
cuantificación de incertidumbre en riesgo crediticio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907792"/>
            <a:ext cx="585216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s-CO" sz="1600" b="1" noProof="0" dirty="0">
                <a:solidFill>
                  <a:srgbClr val="38BDF8"/>
                </a:solidFill>
                <a:latin typeface="Aptos"/>
              </a:rPr>
              <a:t>Presentación de Tesis de especialización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310128"/>
            <a:ext cx="5486400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s-CO" sz="1400" b="0" noProof="0" dirty="0">
                <a:solidFill>
                  <a:srgbClr val="FFFFFF"/>
                </a:solidFill>
                <a:latin typeface="Aptos"/>
              </a:rPr>
              <a:t>Carlos Alfredo Vergara Rojas
Especialización en Analítica y Ciencia de Datos Aplicada - UTP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315968"/>
            <a:ext cx="6812280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s-CO" sz="1400" i="1" dirty="0">
                <a:solidFill>
                  <a:srgbClr val="E2E8F0"/>
                </a:solidFill>
                <a:latin typeface="Aptos"/>
              </a:rPr>
              <a:t>U</a:t>
            </a:r>
            <a:r>
              <a:rPr lang="es-CO" sz="1400" b="0" i="1" noProof="0" dirty="0" err="1">
                <a:solidFill>
                  <a:srgbClr val="E2E8F0"/>
                </a:solidFill>
                <a:latin typeface="Aptos"/>
              </a:rPr>
              <a:t>na</a:t>
            </a:r>
            <a:r>
              <a:rPr lang="es-CO" sz="1400" b="0" i="1" noProof="0" dirty="0">
                <a:solidFill>
                  <a:srgbClr val="E2E8F0"/>
                </a:solidFill>
                <a:latin typeface="Aptos"/>
              </a:rPr>
              <a:t> probabilidad puntual ordena clientes; una predicción con incertidumbre permite decidir con prudencia.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5047488"/>
            <a:ext cx="1645920" cy="4572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pic>
        <p:nvPicPr>
          <p:cNvPr id="18" name="Imagen 17">
            <a:extLst>
              <a:ext uri="{FF2B5EF4-FFF2-40B4-BE49-F238E27FC236}">
                <a16:creationId xmlns:a16="http://schemas.microsoft.com/office/drawing/2014/main" id="{2D353B99-D3D5-E622-D49B-3F271DEE1893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43" t="29881" r="57618" b="29524"/>
          <a:stretch/>
        </p:blipFill>
        <p:spPr>
          <a:xfrm>
            <a:off x="0" y="0"/>
            <a:ext cx="2953753" cy="568389"/>
          </a:xfrm>
          <a:prstGeom prst="rect">
            <a:avLst/>
          </a:prstGeom>
        </p:spPr>
      </p:pic>
      <p:pic>
        <p:nvPicPr>
          <p:cNvPr id="19" name="Imagen 18">
            <a:extLst>
              <a:ext uri="{FF2B5EF4-FFF2-40B4-BE49-F238E27FC236}">
                <a16:creationId xmlns:a16="http://schemas.microsoft.com/office/drawing/2014/main" id="{DDF5C44C-2C4D-8293-03AF-D520447925E0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278" b="27496"/>
          <a:stretch/>
        </p:blipFill>
        <p:spPr>
          <a:xfrm>
            <a:off x="9968163" y="-118980"/>
            <a:ext cx="2405838" cy="2339126"/>
          </a:xfrm>
          <a:prstGeom prst="rect">
            <a:avLst/>
          </a:prstGeom>
        </p:spPr>
      </p:pic>
      <p:pic>
        <p:nvPicPr>
          <p:cNvPr id="20" name="Imagen 19">
            <a:extLst>
              <a:ext uri="{FF2B5EF4-FFF2-40B4-BE49-F238E27FC236}">
                <a16:creationId xmlns:a16="http://schemas.microsoft.com/office/drawing/2014/main" id="{F8F70193-1C3C-33A9-E33B-C06656233836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278" b="27496"/>
          <a:stretch/>
        </p:blipFill>
        <p:spPr>
          <a:xfrm rot="10800000">
            <a:off x="-218093" y="4408396"/>
            <a:ext cx="2684567" cy="261012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27B9596-3E52-733F-49C6-839F78A374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06DE89E-C67A-34A7-63AA-CD1C7B866BFC}"/>
              </a:ext>
            </a:extLst>
          </p:cNvPr>
          <p:cNvSpPr/>
          <p:nvPr/>
        </p:nvSpPr>
        <p:spPr>
          <a:xfrm>
            <a:off x="530352" y="762834"/>
            <a:ext cx="164592" cy="53035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9D5E345-FBFB-750B-6A4B-DD1913E0B88F}"/>
              </a:ext>
            </a:extLst>
          </p:cNvPr>
          <p:cNvSpPr txBox="1"/>
          <p:nvPr/>
        </p:nvSpPr>
        <p:spPr>
          <a:xfrm>
            <a:off x="822960" y="707970"/>
            <a:ext cx="10012680" cy="4308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lang="es-CO" sz="2200" b="1" noProof="0" dirty="0">
                <a:solidFill>
                  <a:srgbClr val="0F172A"/>
                </a:solidFill>
                <a:latin typeface="Aptos Display"/>
              </a:rPr>
              <a:t>Agenda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B872C49-E5DB-6D03-373C-BDBA5AD63220}"/>
              </a:ext>
            </a:extLst>
          </p:cNvPr>
          <p:cNvSpPr/>
          <p:nvPr/>
        </p:nvSpPr>
        <p:spPr>
          <a:xfrm>
            <a:off x="822960" y="1078992"/>
            <a:ext cx="1024128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A4FC6665-8A3E-4B32-ACE6-139427E6D244}"/>
              </a:ext>
            </a:extLst>
          </p:cNvPr>
          <p:cNvSpPr/>
          <p:nvPr/>
        </p:nvSpPr>
        <p:spPr>
          <a:xfrm>
            <a:off x="3583530" y="2189798"/>
            <a:ext cx="4232712" cy="36442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noProof="0" dirty="0">
                <a:solidFill>
                  <a:schemeClr val="tx1"/>
                </a:solidFill>
              </a:rPr>
              <a:t>Introducción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02121AC-DA24-4A38-0C28-4DA98132C21F}"/>
              </a:ext>
            </a:extLst>
          </p:cNvPr>
          <p:cNvSpPr/>
          <p:nvPr/>
        </p:nvSpPr>
        <p:spPr>
          <a:xfrm>
            <a:off x="3546954" y="2189798"/>
            <a:ext cx="73152" cy="364425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pic>
        <p:nvPicPr>
          <p:cNvPr id="38" name="Imagen 37">
            <a:extLst>
              <a:ext uri="{FF2B5EF4-FFF2-40B4-BE49-F238E27FC236}">
                <a16:creationId xmlns:a16="http://schemas.microsoft.com/office/drawing/2014/main" id="{C4FF69B9-F7D3-1A7F-B229-BAFA02FD6F7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43" t="29881" r="57618" b="29524"/>
          <a:stretch/>
        </p:blipFill>
        <p:spPr>
          <a:xfrm>
            <a:off x="0" y="0"/>
            <a:ext cx="2953753" cy="568389"/>
          </a:xfrm>
          <a:prstGeom prst="rect">
            <a:avLst/>
          </a:prstGeom>
        </p:spPr>
      </p:pic>
      <p:pic>
        <p:nvPicPr>
          <p:cNvPr id="39" name="Imagen 38">
            <a:extLst>
              <a:ext uri="{FF2B5EF4-FFF2-40B4-BE49-F238E27FC236}">
                <a16:creationId xmlns:a16="http://schemas.microsoft.com/office/drawing/2014/main" id="{DFCFC9E7-07EB-4325-7EDA-3EB4DC079A4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278" b="27496"/>
          <a:stretch/>
        </p:blipFill>
        <p:spPr>
          <a:xfrm>
            <a:off x="9989337" y="-141553"/>
            <a:ext cx="2405838" cy="2339126"/>
          </a:xfrm>
          <a:prstGeom prst="rect">
            <a:avLst/>
          </a:prstGeom>
        </p:spPr>
      </p:pic>
      <p:pic>
        <p:nvPicPr>
          <p:cNvPr id="40" name="Imagen 39">
            <a:extLst>
              <a:ext uri="{FF2B5EF4-FFF2-40B4-BE49-F238E27FC236}">
                <a16:creationId xmlns:a16="http://schemas.microsoft.com/office/drawing/2014/main" id="{8461A662-FAA3-3147-D69E-BB2059334B8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278" b="27496"/>
          <a:stretch/>
        </p:blipFill>
        <p:spPr>
          <a:xfrm rot="10800000">
            <a:off x="-218093" y="4408396"/>
            <a:ext cx="2684567" cy="2610127"/>
          </a:xfrm>
          <a:prstGeom prst="rect">
            <a:avLst/>
          </a:prstGeom>
        </p:spPr>
      </p:pic>
      <p:sp>
        <p:nvSpPr>
          <p:cNvPr id="6" name="Rounded Rectangle 7">
            <a:extLst>
              <a:ext uri="{FF2B5EF4-FFF2-40B4-BE49-F238E27FC236}">
                <a16:creationId xmlns:a16="http://schemas.microsoft.com/office/drawing/2014/main" id="{9413A8B6-7BE2-BA02-3C43-3CC7FCAB9C25}"/>
              </a:ext>
            </a:extLst>
          </p:cNvPr>
          <p:cNvSpPr/>
          <p:nvPr/>
        </p:nvSpPr>
        <p:spPr>
          <a:xfrm>
            <a:off x="3583530" y="2708941"/>
            <a:ext cx="4232712" cy="36442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noProof="0" dirty="0">
                <a:solidFill>
                  <a:schemeClr val="tx1"/>
                </a:solidFill>
              </a:rPr>
              <a:t>Justificación del Problema</a:t>
            </a:r>
          </a:p>
        </p:txBody>
      </p:sp>
      <p:sp>
        <p:nvSpPr>
          <p:cNvPr id="31" name="Rectangle 8">
            <a:extLst>
              <a:ext uri="{FF2B5EF4-FFF2-40B4-BE49-F238E27FC236}">
                <a16:creationId xmlns:a16="http://schemas.microsoft.com/office/drawing/2014/main" id="{EA10ADD6-8AE6-CE22-FC6E-B5EAA99AC3F7}"/>
              </a:ext>
            </a:extLst>
          </p:cNvPr>
          <p:cNvSpPr/>
          <p:nvPr/>
        </p:nvSpPr>
        <p:spPr>
          <a:xfrm>
            <a:off x="3546954" y="2708941"/>
            <a:ext cx="73152" cy="364425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32" name="Rounded Rectangle 7">
            <a:extLst>
              <a:ext uri="{FF2B5EF4-FFF2-40B4-BE49-F238E27FC236}">
                <a16:creationId xmlns:a16="http://schemas.microsoft.com/office/drawing/2014/main" id="{4565FBE8-65C1-ED70-BDE2-FA2F55E2E150}"/>
              </a:ext>
            </a:extLst>
          </p:cNvPr>
          <p:cNvSpPr/>
          <p:nvPr/>
        </p:nvSpPr>
        <p:spPr>
          <a:xfrm>
            <a:off x="3583530" y="3291287"/>
            <a:ext cx="4232712" cy="36442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noProof="0" dirty="0">
                <a:solidFill>
                  <a:schemeClr val="tx1"/>
                </a:solidFill>
              </a:rPr>
              <a:t>Objetivos</a:t>
            </a:r>
          </a:p>
        </p:txBody>
      </p:sp>
      <p:sp>
        <p:nvSpPr>
          <p:cNvPr id="33" name="Rectangle 8">
            <a:extLst>
              <a:ext uri="{FF2B5EF4-FFF2-40B4-BE49-F238E27FC236}">
                <a16:creationId xmlns:a16="http://schemas.microsoft.com/office/drawing/2014/main" id="{406FE8E6-62BA-2560-9C89-01F9F5321508}"/>
              </a:ext>
            </a:extLst>
          </p:cNvPr>
          <p:cNvSpPr/>
          <p:nvPr/>
        </p:nvSpPr>
        <p:spPr>
          <a:xfrm>
            <a:off x="3546954" y="3291287"/>
            <a:ext cx="73152" cy="364425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34" name="Rounded Rectangle 7">
            <a:extLst>
              <a:ext uri="{FF2B5EF4-FFF2-40B4-BE49-F238E27FC236}">
                <a16:creationId xmlns:a16="http://schemas.microsoft.com/office/drawing/2014/main" id="{D91C7C9F-CD81-64D2-6D2A-00BF13143174}"/>
              </a:ext>
            </a:extLst>
          </p:cNvPr>
          <p:cNvSpPr/>
          <p:nvPr/>
        </p:nvSpPr>
        <p:spPr>
          <a:xfrm>
            <a:off x="3583530" y="3797347"/>
            <a:ext cx="4232712" cy="36442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noProof="0" dirty="0">
                <a:solidFill>
                  <a:schemeClr val="tx1"/>
                </a:solidFill>
              </a:rPr>
              <a:t>Metodología</a:t>
            </a:r>
          </a:p>
        </p:txBody>
      </p:sp>
      <p:sp>
        <p:nvSpPr>
          <p:cNvPr id="35" name="Rectangle 8">
            <a:extLst>
              <a:ext uri="{FF2B5EF4-FFF2-40B4-BE49-F238E27FC236}">
                <a16:creationId xmlns:a16="http://schemas.microsoft.com/office/drawing/2014/main" id="{FC22ED49-D38F-F8AD-6990-62F5E534F766}"/>
              </a:ext>
            </a:extLst>
          </p:cNvPr>
          <p:cNvSpPr/>
          <p:nvPr/>
        </p:nvSpPr>
        <p:spPr>
          <a:xfrm>
            <a:off x="3546954" y="3797347"/>
            <a:ext cx="73152" cy="364425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36" name="Rounded Rectangle 7">
            <a:extLst>
              <a:ext uri="{FF2B5EF4-FFF2-40B4-BE49-F238E27FC236}">
                <a16:creationId xmlns:a16="http://schemas.microsoft.com/office/drawing/2014/main" id="{DF050E88-4F36-897B-1604-B3D8F61EAFB7}"/>
              </a:ext>
            </a:extLst>
          </p:cNvPr>
          <p:cNvSpPr/>
          <p:nvPr/>
        </p:nvSpPr>
        <p:spPr>
          <a:xfrm>
            <a:off x="3583530" y="4346162"/>
            <a:ext cx="4232712" cy="36442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noProof="0" dirty="0">
                <a:solidFill>
                  <a:schemeClr val="tx1"/>
                </a:solidFill>
              </a:rPr>
              <a:t>Resultados</a:t>
            </a:r>
          </a:p>
        </p:txBody>
      </p:sp>
      <p:sp>
        <p:nvSpPr>
          <p:cNvPr id="37" name="Rectangle 8">
            <a:extLst>
              <a:ext uri="{FF2B5EF4-FFF2-40B4-BE49-F238E27FC236}">
                <a16:creationId xmlns:a16="http://schemas.microsoft.com/office/drawing/2014/main" id="{3388ADDB-14BC-A8DC-0B37-52736915C4F9}"/>
              </a:ext>
            </a:extLst>
          </p:cNvPr>
          <p:cNvSpPr/>
          <p:nvPr/>
        </p:nvSpPr>
        <p:spPr>
          <a:xfrm>
            <a:off x="3546954" y="4346162"/>
            <a:ext cx="73152" cy="364425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41" name="Rounded Rectangle 7">
            <a:extLst>
              <a:ext uri="{FF2B5EF4-FFF2-40B4-BE49-F238E27FC236}">
                <a16:creationId xmlns:a16="http://schemas.microsoft.com/office/drawing/2014/main" id="{8488A49F-CFF2-B9C9-BE31-3B5A259C51C0}"/>
              </a:ext>
            </a:extLst>
          </p:cNvPr>
          <p:cNvSpPr/>
          <p:nvPr/>
        </p:nvSpPr>
        <p:spPr>
          <a:xfrm>
            <a:off x="3583530" y="4885754"/>
            <a:ext cx="4232712" cy="36442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noProof="0" dirty="0">
                <a:solidFill>
                  <a:schemeClr val="tx1"/>
                </a:solidFill>
              </a:rPr>
              <a:t>Conclusiones</a:t>
            </a:r>
          </a:p>
        </p:txBody>
      </p:sp>
      <p:sp>
        <p:nvSpPr>
          <p:cNvPr id="42" name="Rectangle 8">
            <a:extLst>
              <a:ext uri="{FF2B5EF4-FFF2-40B4-BE49-F238E27FC236}">
                <a16:creationId xmlns:a16="http://schemas.microsoft.com/office/drawing/2014/main" id="{6C1AB8D6-CCE2-0DD4-D267-2C8DA5F25EB8}"/>
              </a:ext>
            </a:extLst>
          </p:cNvPr>
          <p:cNvSpPr/>
          <p:nvPr/>
        </p:nvSpPr>
        <p:spPr>
          <a:xfrm>
            <a:off x="3546954" y="4885754"/>
            <a:ext cx="73152" cy="364425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B2CC7E4-3D9D-72C9-6BC3-AD945B9F16E1}"/>
              </a:ext>
            </a:extLst>
          </p:cNvPr>
          <p:cNvSpPr txBox="1"/>
          <p:nvPr/>
        </p:nvSpPr>
        <p:spPr>
          <a:xfrm>
            <a:off x="11774884" y="6573594"/>
            <a:ext cx="417116" cy="2308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lang="es-CO" sz="900" b="1" noProof="0" dirty="0">
                <a:solidFill>
                  <a:srgbClr val="475569"/>
                </a:solidFill>
                <a:latin typeface="Aptos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6653072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30352" y="919409"/>
            <a:ext cx="164592" cy="351044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3" name="TextBox 2"/>
          <p:cNvSpPr txBox="1"/>
          <p:nvPr/>
        </p:nvSpPr>
        <p:spPr>
          <a:xfrm>
            <a:off x="11774884" y="6573594"/>
            <a:ext cx="417116" cy="2308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lang="es-CO" sz="900" b="1" noProof="0" dirty="0">
                <a:solidFill>
                  <a:srgbClr val="475569"/>
                </a:solidFill>
                <a:latin typeface="Aptos"/>
              </a:rPr>
              <a:t>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59" y="864545"/>
            <a:ext cx="10412887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s-CO" b="1" noProof="0" dirty="0">
                <a:solidFill>
                  <a:srgbClr val="0F172A"/>
                </a:solidFill>
                <a:latin typeface="Aptos Display"/>
              </a:rPr>
              <a:t>Las decisiones de crédito dependen de PD, LGD y EAD, pero hoy suelen tomarse con incertidumbre oculta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216778"/>
            <a:ext cx="1024128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8" name="Rounded Rectangle 7"/>
          <p:cNvSpPr/>
          <p:nvPr/>
        </p:nvSpPr>
        <p:spPr>
          <a:xfrm>
            <a:off x="868680" y="1463666"/>
            <a:ext cx="224028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9" name="Rectangle 8"/>
          <p:cNvSpPr/>
          <p:nvPr/>
        </p:nvSpPr>
        <p:spPr>
          <a:xfrm>
            <a:off x="868680" y="1463666"/>
            <a:ext cx="73152" cy="105156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10" name="TextBox 9"/>
          <p:cNvSpPr txBox="1"/>
          <p:nvPr/>
        </p:nvSpPr>
        <p:spPr>
          <a:xfrm>
            <a:off x="1014983" y="1555106"/>
            <a:ext cx="20116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s-CO" sz="1100" b="1" noProof="0" dirty="0">
                <a:solidFill>
                  <a:srgbClr val="475569"/>
                </a:solidFill>
                <a:latin typeface="Aptos"/>
              </a:rPr>
              <a:t>PD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4982" y="1792850"/>
            <a:ext cx="2093977" cy="70788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s-CO" sz="2000" b="1" noProof="0" dirty="0">
                <a:solidFill>
                  <a:srgbClr val="0F172A"/>
                </a:solidFill>
                <a:latin typeface="Aptos"/>
              </a:rPr>
              <a:t>Probabilidad de incumplimiento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10128" y="1463666"/>
            <a:ext cx="224028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13" name="Rectangle 12"/>
          <p:cNvSpPr/>
          <p:nvPr/>
        </p:nvSpPr>
        <p:spPr>
          <a:xfrm>
            <a:off x="3310128" y="1463666"/>
            <a:ext cx="73152" cy="105156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14" name="TextBox 13"/>
          <p:cNvSpPr txBox="1"/>
          <p:nvPr/>
        </p:nvSpPr>
        <p:spPr>
          <a:xfrm>
            <a:off x="3456432" y="1555106"/>
            <a:ext cx="20116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s-CO" sz="1100" b="1" noProof="0" dirty="0">
                <a:solidFill>
                  <a:srgbClr val="475569"/>
                </a:solidFill>
                <a:latin typeface="Aptos"/>
              </a:rPr>
              <a:t>LGD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56432" y="1792850"/>
            <a:ext cx="2093976" cy="70788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s-CO" sz="2000" b="1" noProof="0" dirty="0">
                <a:solidFill>
                  <a:srgbClr val="0F172A"/>
                </a:solidFill>
                <a:latin typeface="Aptos"/>
              </a:rPr>
              <a:t>Perdida dado incumplimiento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751576" y="1463666"/>
            <a:ext cx="224028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17" name="Rectangle 16"/>
          <p:cNvSpPr/>
          <p:nvPr/>
        </p:nvSpPr>
        <p:spPr>
          <a:xfrm>
            <a:off x="5751576" y="1463666"/>
            <a:ext cx="73152" cy="105156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18" name="TextBox 17"/>
          <p:cNvSpPr txBox="1"/>
          <p:nvPr/>
        </p:nvSpPr>
        <p:spPr>
          <a:xfrm>
            <a:off x="5897880" y="1555106"/>
            <a:ext cx="20116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s-CO" sz="1100" b="1" noProof="0" dirty="0">
                <a:solidFill>
                  <a:srgbClr val="475569"/>
                </a:solidFill>
                <a:latin typeface="Aptos"/>
              </a:rPr>
              <a:t>EAD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97880" y="1792850"/>
            <a:ext cx="2011680" cy="70788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s-CO" sz="2000" b="1" noProof="0" dirty="0">
                <a:solidFill>
                  <a:srgbClr val="0F172A"/>
                </a:solidFill>
                <a:latin typeface="Aptos"/>
              </a:rPr>
              <a:t>Exposición al default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68680" y="2807834"/>
            <a:ext cx="5257800" cy="26974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21" name="TextBox 20"/>
          <p:cNvSpPr txBox="1"/>
          <p:nvPr/>
        </p:nvSpPr>
        <p:spPr>
          <a:xfrm>
            <a:off x="1097280" y="3063866"/>
            <a:ext cx="3349460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s-CO" sz="2400" b="1" noProof="0" dirty="0">
                <a:solidFill>
                  <a:srgbClr val="0F172A"/>
                </a:solidFill>
                <a:latin typeface="Aptos"/>
              </a:rPr>
              <a:t>ECL = PD × LGD × EAD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3594218"/>
            <a:ext cx="4572000" cy="17748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lang="es-CO" sz="1600" noProof="0" dirty="0">
                <a:solidFill>
                  <a:srgbClr val="1F2937"/>
                </a:solidFill>
                <a:latin typeface="Aptos"/>
              </a:rPr>
              <a:t>• Estas tres métricas afectan originación, pricing, provisiones y capital regulatorio.</a:t>
            </a:r>
          </a:p>
          <a:p>
            <a:pPr>
              <a:spcAft>
                <a:spcPts val="800"/>
              </a:spcAft>
            </a:pPr>
            <a:r>
              <a:rPr lang="es-CO" sz="1600" noProof="0" dirty="0">
                <a:solidFill>
                  <a:srgbClr val="1F2937"/>
                </a:solidFill>
                <a:latin typeface="Aptos"/>
              </a:rPr>
              <a:t>• El problema no es solo quien tiene mas riesgo, sino con que confianza se toma cada decisión.</a:t>
            </a:r>
          </a:p>
          <a:p>
            <a:pPr>
              <a:spcAft>
                <a:spcPts val="800"/>
              </a:spcAft>
            </a:pPr>
            <a:r>
              <a:rPr lang="es-CO" sz="1600" noProof="0" dirty="0">
                <a:solidFill>
                  <a:srgbClr val="1F2937"/>
                </a:solidFill>
                <a:latin typeface="Aptos"/>
              </a:rPr>
              <a:t>• Por eso la incertidumbre importa tanto como la predicción puntual.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19088" y="2807834"/>
            <a:ext cx="4663440" cy="2697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24" name="TextBox 23"/>
          <p:cNvSpPr txBox="1"/>
          <p:nvPr/>
        </p:nvSpPr>
        <p:spPr>
          <a:xfrm>
            <a:off x="6656832" y="3045578"/>
            <a:ext cx="310896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s-CO" sz="1400" b="1" noProof="0" dirty="0">
                <a:solidFill>
                  <a:srgbClr val="0EA5E9"/>
                </a:solidFill>
                <a:latin typeface="Aptos"/>
              </a:rPr>
              <a:t>En síntesis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56832" y="3383906"/>
            <a:ext cx="39319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lang="es-CO" sz="1600" noProof="0" dirty="0">
                <a:solidFill>
                  <a:srgbClr val="1F2937"/>
                </a:solidFill>
                <a:latin typeface="Aptos"/>
              </a:rPr>
              <a:t>• PD responde: que tan probable es que el cliente incumpla.</a:t>
            </a:r>
          </a:p>
          <a:p>
            <a:pPr>
              <a:spcAft>
                <a:spcPts val="800"/>
              </a:spcAft>
            </a:pPr>
            <a:r>
              <a:rPr lang="es-CO" sz="1600" noProof="0" dirty="0">
                <a:solidFill>
                  <a:srgbClr val="1F2937"/>
                </a:solidFill>
                <a:latin typeface="Aptos"/>
              </a:rPr>
              <a:t>• LGD responde: cuanto se pierde si incumple.</a:t>
            </a:r>
          </a:p>
          <a:p>
            <a:pPr>
              <a:spcAft>
                <a:spcPts val="800"/>
              </a:spcAft>
            </a:pPr>
            <a:r>
              <a:rPr lang="es-CO" sz="1600" noProof="0" dirty="0">
                <a:solidFill>
                  <a:srgbClr val="1F2937"/>
                </a:solidFill>
                <a:latin typeface="Aptos"/>
              </a:rPr>
              <a:t>• EAD responde: sobre cuanto dinero estamos expuestos en ese momento.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856358" y="6409002"/>
            <a:ext cx="106070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s-CO" sz="1000" b="0" noProof="0" dirty="0">
                <a:solidFill>
                  <a:srgbClr val="64748B"/>
                </a:solidFill>
                <a:latin typeface="Aptos"/>
              </a:rPr>
              <a:t>Fuente: propuesta de tesis, Basilea III e IFRS 9.</a:t>
            </a:r>
          </a:p>
        </p:txBody>
      </p:sp>
      <p:pic>
        <p:nvPicPr>
          <p:cNvPr id="30" name="Imagen 29">
            <a:extLst>
              <a:ext uri="{FF2B5EF4-FFF2-40B4-BE49-F238E27FC236}">
                <a16:creationId xmlns:a16="http://schemas.microsoft.com/office/drawing/2014/main" id="{D670987A-B093-5BEE-4422-68FCC5C75E0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43" t="29881" r="57618" b="29524"/>
          <a:stretch/>
        </p:blipFill>
        <p:spPr>
          <a:xfrm>
            <a:off x="0" y="0"/>
            <a:ext cx="2953753" cy="568389"/>
          </a:xfrm>
          <a:prstGeom prst="rect">
            <a:avLst/>
          </a:prstGeom>
        </p:spPr>
      </p:pic>
      <p:pic>
        <p:nvPicPr>
          <p:cNvPr id="31" name="Imagen 30">
            <a:extLst>
              <a:ext uri="{FF2B5EF4-FFF2-40B4-BE49-F238E27FC236}">
                <a16:creationId xmlns:a16="http://schemas.microsoft.com/office/drawing/2014/main" id="{035AFDB1-B817-C3A1-602D-1FCB946CBDF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278" b="27496"/>
          <a:stretch/>
        </p:blipFill>
        <p:spPr>
          <a:xfrm>
            <a:off x="9947124" y="-120352"/>
            <a:ext cx="2405838" cy="2339126"/>
          </a:xfrm>
          <a:prstGeom prst="rect">
            <a:avLst/>
          </a:prstGeom>
        </p:spPr>
      </p:pic>
      <p:pic>
        <p:nvPicPr>
          <p:cNvPr id="32" name="Imagen 31">
            <a:extLst>
              <a:ext uri="{FF2B5EF4-FFF2-40B4-BE49-F238E27FC236}">
                <a16:creationId xmlns:a16="http://schemas.microsoft.com/office/drawing/2014/main" id="{75528A9D-3FE3-6069-8A98-712B2754DCD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278" b="27496"/>
          <a:stretch/>
        </p:blipFill>
        <p:spPr>
          <a:xfrm rot="10800000">
            <a:off x="-218093" y="4408396"/>
            <a:ext cx="2684567" cy="261012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30352" y="762834"/>
            <a:ext cx="164592" cy="53035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4" name="TextBox 3"/>
          <p:cNvSpPr txBox="1"/>
          <p:nvPr/>
        </p:nvSpPr>
        <p:spPr>
          <a:xfrm>
            <a:off x="822960" y="707970"/>
            <a:ext cx="10012680" cy="8046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s-CO" sz="2200" b="1" noProof="0" dirty="0">
                <a:solidFill>
                  <a:srgbClr val="0F172A"/>
                </a:solidFill>
                <a:latin typeface="Aptos Display"/>
              </a:rPr>
              <a:t>El proyecto no busca solo predecir mejor; busca decidir mejor bajo incertidumbre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078992"/>
            <a:ext cx="1024128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7" name="TextBox 6"/>
          <p:cNvSpPr txBox="1"/>
          <p:nvPr/>
        </p:nvSpPr>
        <p:spPr>
          <a:xfrm>
            <a:off x="11886699" y="6581674"/>
            <a:ext cx="228600" cy="2462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s-CO" sz="1000" b="1" noProof="0" dirty="0">
                <a:solidFill>
                  <a:srgbClr val="475569"/>
                </a:solidFill>
                <a:latin typeface="Aptos"/>
              </a:rPr>
              <a:t>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1335024"/>
            <a:ext cx="214884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9" name="Rectangle 8"/>
          <p:cNvSpPr/>
          <p:nvPr/>
        </p:nvSpPr>
        <p:spPr>
          <a:xfrm>
            <a:off x="868680" y="1335024"/>
            <a:ext cx="73152" cy="9144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10" name="TextBox 9"/>
          <p:cNvSpPr txBox="1"/>
          <p:nvPr/>
        </p:nvSpPr>
        <p:spPr>
          <a:xfrm>
            <a:off x="1014983" y="1307467"/>
            <a:ext cx="19202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s-CO" sz="1100" b="1" noProof="0" dirty="0">
                <a:solidFill>
                  <a:srgbClr val="475569"/>
                </a:solidFill>
                <a:latin typeface="Aptos"/>
              </a:rPr>
              <a:t>PD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4983" y="1545210"/>
            <a:ext cx="1920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s-CO" sz="2000" b="1" noProof="0" dirty="0">
                <a:solidFill>
                  <a:srgbClr val="0F172A"/>
                </a:solidFill>
                <a:latin typeface="Aptos"/>
              </a:rPr>
              <a:t>Probabilidad
de default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00400" y="1335024"/>
            <a:ext cx="214884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13" name="Rectangle 12"/>
          <p:cNvSpPr/>
          <p:nvPr/>
        </p:nvSpPr>
        <p:spPr>
          <a:xfrm>
            <a:off x="3200400" y="1335024"/>
            <a:ext cx="73152" cy="9144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14" name="TextBox 13"/>
          <p:cNvSpPr txBox="1"/>
          <p:nvPr/>
        </p:nvSpPr>
        <p:spPr>
          <a:xfrm>
            <a:off x="3346704" y="1307467"/>
            <a:ext cx="19202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s-CO" sz="1100" b="1" noProof="0" dirty="0">
                <a:solidFill>
                  <a:srgbClr val="475569"/>
                </a:solidFill>
                <a:latin typeface="Aptos"/>
              </a:rPr>
              <a:t>LGD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46704" y="1545210"/>
            <a:ext cx="1920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s-CO" sz="2000" b="1" noProof="0" dirty="0">
                <a:solidFill>
                  <a:srgbClr val="0F172A"/>
                </a:solidFill>
                <a:latin typeface="Aptos"/>
              </a:rPr>
              <a:t>Severidad
de perdida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532120" y="1335024"/>
            <a:ext cx="214884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17" name="Rectangle 16"/>
          <p:cNvSpPr/>
          <p:nvPr/>
        </p:nvSpPr>
        <p:spPr>
          <a:xfrm>
            <a:off x="5532120" y="1335024"/>
            <a:ext cx="73152" cy="9144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18" name="TextBox 17"/>
          <p:cNvSpPr txBox="1"/>
          <p:nvPr/>
        </p:nvSpPr>
        <p:spPr>
          <a:xfrm>
            <a:off x="5678424" y="1307467"/>
            <a:ext cx="19202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s-CO" sz="1100" b="1" noProof="0" dirty="0">
                <a:solidFill>
                  <a:srgbClr val="475569"/>
                </a:solidFill>
                <a:latin typeface="Aptos"/>
              </a:rPr>
              <a:t>EAD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78424" y="1545210"/>
            <a:ext cx="1920240" cy="70788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s-CO" sz="2000" b="1" noProof="0" dirty="0">
                <a:solidFill>
                  <a:srgbClr val="0F172A"/>
                </a:solidFill>
                <a:latin typeface="Aptos"/>
              </a:rPr>
              <a:t>Exposición al
default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863840" y="1335024"/>
            <a:ext cx="233172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21" name="Rectangle 20"/>
          <p:cNvSpPr/>
          <p:nvPr/>
        </p:nvSpPr>
        <p:spPr>
          <a:xfrm>
            <a:off x="7863840" y="1335024"/>
            <a:ext cx="73152" cy="9144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22" name="TextBox 21"/>
          <p:cNvSpPr txBox="1"/>
          <p:nvPr/>
        </p:nvSpPr>
        <p:spPr>
          <a:xfrm>
            <a:off x="8010144" y="1307467"/>
            <a:ext cx="21031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s-CO" sz="1100" b="1" noProof="0" dirty="0">
                <a:solidFill>
                  <a:srgbClr val="475569"/>
                </a:solidFill>
                <a:latin typeface="Aptos"/>
              </a:rPr>
              <a:t>Idea central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10144" y="1545210"/>
            <a:ext cx="2103120" cy="70788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lang="es-CO" sz="2000" b="1" noProof="0" dirty="0">
                <a:solidFill>
                  <a:srgbClr val="0F172A"/>
                </a:solidFill>
                <a:latin typeface="Aptos"/>
              </a:rPr>
              <a:t>ECL = </a:t>
            </a:r>
          </a:p>
          <a:p>
            <a:pPr algn="l"/>
            <a:r>
              <a:rPr lang="es-CO" sz="2000" b="1" noProof="0" dirty="0">
                <a:solidFill>
                  <a:srgbClr val="0F172A"/>
                </a:solidFill>
                <a:latin typeface="Aptos"/>
              </a:rPr>
              <a:t>PD x LGD x EAD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68680" y="2578608"/>
            <a:ext cx="5715000" cy="3090672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25" name="TextBox 24"/>
          <p:cNvSpPr txBox="1"/>
          <p:nvPr/>
        </p:nvSpPr>
        <p:spPr>
          <a:xfrm>
            <a:off x="1078992" y="2788920"/>
            <a:ext cx="3010756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s-CO" sz="1400" b="1" noProof="0" dirty="0">
                <a:solidFill>
                  <a:srgbClr val="0EA5E9"/>
                </a:solidFill>
                <a:latin typeface="Aptos"/>
              </a:rPr>
              <a:t>Pregunta de investigación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78992" y="3090672"/>
            <a:ext cx="5166360" cy="107721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s-CO" sz="1600" b="1" noProof="0" dirty="0">
                <a:solidFill>
                  <a:srgbClr val="0F172A"/>
                </a:solidFill>
                <a:latin typeface="Aptos"/>
              </a:rPr>
              <a:t>Como mejorar la calibración y la cuantificación de la incertidumbre en modelos de riesgo crediticio (PD, LGD, EAD) mediante técnicas de </a:t>
            </a:r>
            <a:r>
              <a:rPr lang="es-CO" sz="1600" b="1" i="1" noProof="0" dirty="0">
                <a:solidFill>
                  <a:srgbClr val="0F172A"/>
                </a:solidFill>
                <a:latin typeface="Aptos"/>
              </a:rPr>
              <a:t>Conformal Prediction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78992" y="443484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lang="es-CO" sz="1400" noProof="0" dirty="0">
                <a:solidFill>
                  <a:srgbClr val="1F2937"/>
                </a:solidFill>
                <a:latin typeface="Aptos"/>
              </a:rPr>
              <a:t>- El caso de estudio es Lending Club, un dataset publico y temporalmente rico.</a:t>
            </a:r>
          </a:p>
          <a:p>
            <a:pPr>
              <a:spcAft>
                <a:spcPts val="700"/>
              </a:spcAft>
            </a:pPr>
            <a:r>
              <a:rPr lang="es-CO" sz="1400" noProof="0" dirty="0">
                <a:solidFill>
                  <a:srgbClr val="1F2937"/>
                </a:solidFill>
                <a:latin typeface="Aptos"/>
              </a:rPr>
              <a:t>- La historia integra modelado, incertidumbre y lectura de negocio en IFRS9.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812280" y="2578608"/>
            <a:ext cx="4315968" cy="3090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29" name="TextBox 28"/>
          <p:cNvSpPr txBox="1"/>
          <p:nvPr/>
        </p:nvSpPr>
        <p:spPr>
          <a:xfrm>
            <a:off x="7040880" y="2788920"/>
            <a:ext cx="3387038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s-CO" sz="1400" b="1" noProof="0" dirty="0">
                <a:solidFill>
                  <a:srgbClr val="14B8A6"/>
                </a:solidFill>
                <a:latin typeface="Aptos"/>
              </a:rPr>
              <a:t>Por que esto importa para el grupo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40880" y="3108960"/>
            <a:ext cx="3657600" cy="24391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lang="es-CO" sz="1500" noProof="0" dirty="0">
                <a:solidFill>
                  <a:srgbClr val="1F2937"/>
                </a:solidFill>
                <a:latin typeface="Aptos"/>
              </a:rPr>
              <a:t>- Riesgo de crédito aparece en prestamos, tarjetas, provisiones y capital.</a:t>
            </a:r>
          </a:p>
          <a:p>
            <a:pPr>
              <a:spcAft>
                <a:spcPts val="700"/>
              </a:spcAft>
            </a:pPr>
            <a:r>
              <a:rPr lang="es-CO" sz="1500" noProof="0" dirty="0">
                <a:solidFill>
                  <a:srgbClr val="1F2937"/>
                </a:solidFill>
                <a:latin typeface="Aptos"/>
              </a:rPr>
              <a:t>-Una PD mal calibrada puede subestimar perdidas o llevar a provisiones excesivas.</a:t>
            </a:r>
          </a:p>
          <a:p>
            <a:pPr>
              <a:spcAft>
                <a:spcPts val="700"/>
              </a:spcAft>
            </a:pPr>
            <a:r>
              <a:rPr lang="es-CO" sz="1500" noProof="0" dirty="0">
                <a:solidFill>
                  <a:srgbClr val="1F2937"/>
                </a:solidFill>
                <a:latin typeface="Aptos"/>
              </a:rPr>
              <a:t>- Casi todos hemos visto scores; casi nadie ve la incertidumbre del score.</a:t>
            </a:r>
          </a:p>
          <a:p>
            <a:pPr>
              <a:spcAft>
                <a:spcPts val="700"/>
              </a:spcAft>
            </a:pPr>
            <a:r>
              <a:rPr lang="es-CO" sz="1500" noProof="0" dirty="0">
                <a:solidFill>
                  <a:srgbClr val="1F2937"/>
                </a:solidFill>
                <a:latin typeface="Aptos"/>
              </a:rPr>
              <a:t>- Conformal Prediction permite contar esa incertidumbre con una garantía estadística útil.</a:t>
            </a:r>
          </a:p>
        </p:txBody>
      </p:sp>
      <p:pic>
        <p:nvPicPr>
          <p:cNvPr id="38" name="Imagen 37">
            <a:extLst>
              <a:ext uri="{FF2B5EF4-FFF2-40B4-BE49-F238E27FC236}">
                <a16:creationId xmlns:a16="http://schemas.microsoft.com/office/drawing/2014/main" id="{FFD5EBE7-34E4-721A-D38B-6BB8F49BBCD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43" t="29881" r="57618" b="29524"/>
          <a:stretch/>
        </p:blipFill>
        <p:spPr>
          <a:xfrm>
            <a:off x="0" y="0"/>
            <a:ext cx="2953753" cy="568389"/>
          </a:xfrm>
          <a:prstGeom prst="rect">
            <a:avLst/>
          </a:prstGeom>
        </p:spPr>
      </p:pic>
      <p:pic>
        <p:nvPicPr>
          <p:cNvPr id="39" name="Imagen 38">
            <a:extLst>
              <a:ext uri="{FF2B5EF4-FFF2-40B4-BE49-F238E27FC236}">
                <a16:creationId xmlns:a16="http://schemas.microsoft.com/office/drawing/2014/main" id="{E6996099-D8D7-D12D-4EB1-3EC77F933E6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278" b="27496"/>
          <a:stretch/>
        </p:blipFill>
        <p:spPr>
          <a:xfrm>
            <a:off x="9974098" y="-135541"/>
            <a:ext cx="2405838" cy="2339126"/>
          </a:xfrm>
          <a:prstGeom prst="rect">
            <a:avLst/>
          </a:prstGeom>
        </p:spPr>
      </p:pic>
      <p:pic>
        <p:nvPicPr>
          <p:cNvPr id="40" name="Imagen 39">
            <a:extLst>
              <a:ext uri="{FF2B5EF4-FFF2-40B4-BE49-F238E27FC236}">
                <a16:creationId xmlns:a16="http://schemas.microsoft.com/office/drawing/2014/main" id="{87FBCECF-12FA-018B-74A5-1524254A9F26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278" b="27496"/>
          <a:stretch/>
        </p:blipFill>
        <p:spPr>
          <a:xfrm rot="10800000">
            <a:off x="-218093" y="4408396"/>
            <a:ext cx="2684567" cy="261012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E4CD324-8E37-806B-2266-019BE4227D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D59B8D0-BB73-5D80-E8CC-1A3DCA0B529A}"/>
              </a:ext>
            </a:extLst>
          </p:cNvPr>
          <p:cNvSpPr/>
          <p:nvPr/>
        </p:nvSpPr>
        <p:spPr>
          <a:xfrm>
            <a:off x="530352" y="762834"/>
            <a:ext cx="164592" cy="53035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41FE676-CA7D-95C6-B000-4EB700E917FF}"/>
              </a:ext>
            </a:extLst>
          </p:cNvPr>
          <p:cNvSpPr txBox="1"/>
          <p:nvPr/>
        </p:nvSpPr>
        <p:spPr>
          <a:xfrm>
            <a:off x="822960" y="707970"/>
            <a:ext cx="10012680" cy="4308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lang="es-CO" sz="2200" b="1" noProof="0" dirty="0">
                <a:solidFill>
                  <a:srgbClr val="0F172A"/>
                </a:solidFill>
                <a:latin typeface="Aptos Display"/>
              </a:rPr>
              <a:t>Objetivos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A62DEE1-31A9-4FF8-B3BE-A928C8EBAAC3}"/>
              </a:ext>
            </a:extLst>
          </p:cNvPr>
          <p:cNvSpPr/>
          <p:nvPr/>
        </p:nvSpPr>
        <p:spPr>
          <a:xfrm>
            <a:off x="822960" y="1078992"/>
            <a:ext cx="1024128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478A1A0F-A7AA-06C3-3877-B2D852B565BE}"/>
              </a:ext>
            </a:extLst>
          </p:cNvPr>
          <p:cNvSpPr/>
          <p:nvPr/>
        </p:nvSpPr>
        <p:spPr>
          <a:xfrm>
            <a:off x="566927" y="1833148"/>
            <a:ext cx="10374558" cy="36442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CO" sz="1400" b="1" dirty="0">
                <a:solidFill>
                  <a:schemeClr val="tx2"/>
                </a:solidFill>
                <a:latin typeface="Aptos"/>
              </a:rPr>
              <a:t>Revisar el estado del arte de calibración, cuantificación de incertidumbre y conformal Prediction aplicada a riesgo crediticio.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BD21780-2997-B6CC-37EE-69E4045DCF8A}"/>
              </a:ext>
            </a:extLst>
          </p:cNvPr>
          <p:cNvSpPr/>
          <p:nvPr/>
        </p:nvSpPr>
        <p:spPr>
          <a:xfrm>
            <a:off x="530351" y="1833148"/>
            <a:ext cx="89439" cy="364425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pic>
        <p:nvPicPr>
          <p:cNvPr id="38" name="Imagen 37">
            <a:extLst>
              <a:ext uri="{FF2B5EF4-FFF2-40B4-BE49-F238E27FC236}">
                <a16:creationId xmlns:a16="http://schemas.microsoft.com/office/drawing/2014/main" id="{4F3723B8-ACCF-33C5-2F9D-A48D46397D8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43" t="29881" r="57618" b="29524"/>
          <a:stretch/>
        </p:blipFill>
        <p:spPr>
          <a:xfrm>
            <a:off x="0" y="0"/>
            <a:ext cx="2953753" cy="568389"/>
          </a:xfrm>
          <a:prstGeom prst="rect">
            <a:avLst/>
          </a:prstGeom>
        </p:spPr>
      </p:pic>
      <p:pic>
        <p:nvPicPr>
          <p:cNvPr id="39" name="Imagen 38">
            <a:extLst>
              <a:ext uri="{FF2B5EF4-FFF2-40B4-BE49-F238E27FC236}">
                <a16:creationId xmlns:a16="http://schemas.microsoft.com/office/drawing/2014/main" id="{6F09F9FD-417C-35CE-4E14-7958A489761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278" b="27496"/>
          <a:stretch/>
        </p:blipFill>
        <p:spPr>
          <a:xfrm>
            <a:off x="9989337" y="-141553"/>
            <a:ext cx="2405838" cy="2339126"/>
          </a:xfrm>
          <a:prstGeom prst="rect">
            <a:avLst/>
          </a:prstGeom>
        </p:spPr>
      </p:pic>
      <p:pic>
        <p:nvPicPr>
          <p:cNvPr id="40" name="Imagen 39">
            <a:extLst>
              <a:ext uri="{FF2B5EF4-FFF2-40B4-BE49-F238E27FC236}">
                <a16:creationId xmlns:a16="http://schemas.microsoft.com/office/drawing/2014/main" id="{55E3F99C-1730-4679-2F08-8FBD47E3FAAC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278" b="27496"/>
          <a:stretch/>
        </p:blipFill>
        <p:spPr>
          <a:xfrm rot="10800000">
            <a:off x="-218093" y="4408396"/>
            <a:ext cx="2684567" cy="2610127"/>
          </a:xfrm>
          <a:prstGeom prst="rect">
            <a:avLst/>
          </a:prstGeom>
        </p:spPr>
      </p:pic>
      <p:sp>
        <p:nvSpPr>
          <p:cNvPr id="6" name="Rounded Rectangle 7">
            <a:extLst>
              <a:ext uri="{FF2B5EF4-FFF2-40B4-BE49-F238E27FC236}">
                <a16:creationId xmlns:a16="http://schemas.microsoft.com/office/drawing/2014/main" id="{6BDC3176-AB1F-0124-FFEF-D2E9F0478FE0}"/>
              </a:ext>
            </a:extLst>
          </p:cNvPr>
          <p:cNvSpPr/>
          <p:nvPr/>
        </p:nvSpPr>
        <p:spPr>
          <a:xfrm>
            <a:off x="566927" y="2352291"/>
            <a:ext cx="10374558" cy="36442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CO" sz="1400" b="1" dirty="0">
                <a:solidFill>
                  <a:schemeClr val="tx2"/>
                </a:solidFill>
                <a:latin typeface="Aptos"/>
              </a:rPr>
              <a:t>Construir y preparar dataset Lending Club 2007-2020 con variables objetivo PD, LGD y EAD.</a:t>
            </a:r>
          </a:p>
        </p:txBody>
      </p:sp>
      <p:sp>
        <p:nvSpPr>
          <p:cNvPr id="31" name="Rectangle 8">
            <a:extLst>
              <a:ext uri="{FF2B5EF4-FFF2-40B4-BE49-F238E27FC236}">
                <a16:creationId xmlns:a16="http://schemas.microsoft.com/office/drawing/2014/main" id="{A5D6C404-9C7C-4537-DB0C-8444189C2A93}"/>
              </a:ext>
            </a:extLst>
          </p:cNvPr>
          <p:cNvSpPr/>
          <p:nvPr/>
        </p:nvSpPr>
        <p:spPr>
          <a:xfrm>
            <a:off x="530351" y="2352291"/>
            <a:ext cx="89439" cy="364425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32" name="Rounded Rectangle 7">
            <a:extLst>
              <a:ext uri="{FF2B5EF4-FFF2-40B4-BE49-F238E27FC236}">
                <a16:creationId xmlns:a16="http://schemas.microsoft.com/office/drawing/2014/main" id="{1E779FE0-3D48-E36C-FCBD-2A459F648BCE}"/>
              </a:ext>
            </a:extLst>
          </p:cNvPr>
          <p:cNvSpPr/>
          <p:nvPr/>
        </p:nvSpPr>
        <p:spPr>
          <a:xfrm>
            <a:off x="566927" y="2934637"/>
            <a:ext cx="10374558" cy="36442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CO" sz="1400" b="1" dirty="0">
                <a:solidFill>
                  <a:schemeClr val="tx2"/>
                </a:solidFill>
                <a:latin typeface="Aptos"/>
              </a:rPr>
              <a:t>Diseñar e implementar experimentos con Split Conformal, Mondrian, Venn-Abers y CQR.</a:t>
            </a:r>
          </a:p>
        </p:txBody>
      </p:sp>
      <p:sp>
        <p:nvSpPr>
          <p:cNvPr id="33" name="Rectangle 8">
            <a:extLst>
              <a:ext uri="{FF2B5EF4-FFF2-40B4-BE49-F238E27FC236}">
                <a16:creationId xmlns:a16="http://schemas.microsoft.com/office/drawing/2014/main" id="{5006C3A2-171B-0507-577F-4325D12C19C7}"/>
              </a:ext>
            </a:extLst>
          </p:cNvPr>
          <p:cNvSpPr/>
          <p:nvPr/>
        </p:nvSpPr>
        <p:spPr>
          <a:xfrm>
            <a:off x="530351" y="2934637"/>
            <a:ext cx="89439" cy="364425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34" name="Rounded Rectangle 7">
            <a:extLst>
              <a:ext uri="{FF2B5EF4-FFF2-40B4-BE49-F238E27FC236}">
                <a16:creationId xmlns:a16="http://schemas.microsoft.com/office/drawing/2014/main" id="{6EA474E7-B9EB-3ECD-A94D-99F8D1C9EB5F}"/>
              </a:ext>
            </a:extLst>
          </p:cNvPr>
          <p:cNvSpPr/>
          <p:nvPr/>
        </p:nvSpPr>
        <p:spPr>
          <a:xfrm>
            <a:off x="566927" y="3440697"/>
            <a:ext cx="10374558" cy="36442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CO" sz="1400" b="1" dirty="0">
                <a:solidFill>
                  <a:schemeClr val="tx2"/>
                </a:solidFill>
                <a:latin typeface="Aptos"/>
              </a:rPr>
              <a:t>Comparar desempeño frente a métodos tradicionales de calibración (Platt, Isotonic y benchmarks residuales).</a:t>
            </a:r>
          </a:p>
        </p:txBody>
      </p:sp>
      <p:sp>
        <p:nvSpPr>
          <p:cNvPr id="35" name="Rectangle 8">
            <a:extLst>
              <a:ext uri="{FF2B5EF4-FFF2-40B4-BE49-F238E27FC236}">
                <a16:creationId xmlns:a16="http://schemas.microsoft.com/office/drawing/2014/main" id="{CBD3BC16-1C42-51AF-1333-94DD08854215}"/>
              </a:ext>
            </a:extLst>
          </p:cNvPr>
          <p:cNvSpPr/>
          <p:nvPr/>
        </p:nvSpPr>
        <p:spPr>
          <a:xfrm>
            <a:off x="530351" y="3440697"/>
            <a:ext cx="89439" cy="364425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36" name="Rounded Rectangle 7">
            <a:extLst>
              <a:ext uri="{FF2B5EF4-FFF2-40B4-BE49-F238E27FC236}">
                <a16:creationId xmlns:a16="http://schemas.microsoft.com/office/drawing/2014/main" id="{7F0CECCF-1791-A11D-A537-0B4396F8B755}"/>
              </a:ext>
            </a:extLst>
          </p:cNvPr>
          <p:cNvSpPr/>
          <p:nvPr/>
        </p:nvSpPr>
        <p:spPr>
          <a:xfrm>
            <a:off x="566927" y="3989512"/>
            <a:ext cx="10374558" cy="36442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sz="1400" b="1" dirty="0">
              <a:solidFill>
                <a:schemeClr val="tx2"/>
              </a:solidFill>
              <a:latin typeface="Aptos"/>
            </a:endParaRPr>
          </a:p>
          <a:p>
            <a:r>
              <a:rPr lang="es-CO" sz="1400" b="1" dirty="0">
                <a:solidFill>
                  <a:schemeClr val="tx2"/>
                </a:solidFill>
                <a:latin typeface="Aptos"/>
              </a:rPr>
              <a:t>Evaluar impacto potencial en provisiones IFRS9, asignación de capital y backtesting regulatorio.</a:t>
            </a:r>
          </a:p>
          <a:p>
            <a:pPr algn="ctr"/>
            <a:endParaRPr lang="es-CO" noProof="0" dirty="0">
              <a:solidFill>
                <a:schemeClr val="tx1"/>
              </a:solidFill>
            </a:endParaRPr>
          </a:p>
        </p:txBody>
      </p:sp>
      <p:sp>
        <p:nvSpPr>
          <p:cNvPr id="37" name="Rectangle 8">
            <a:extLst>
              <a:ext uri="{FF2B5EF4-FFF2-40B4-BE49-F238E27FC236}">
                <a16:creationId xmlns:a16="http://schemas.microsoft.com/office/drawing/2014/main" id="{45A02B1C-86F8-FFC7-BA3B-3D872E161C54}"/>
              </a:ext>
            </a:extLst>
          </p:cNvPr>
          <p:cNvSpPr/>
          <p:nvPr/>
        </p:nvSpPr>
        <p:spPr>
          <a:xfrm>
            <a:off x="530351" y="3989512"/>
            <a:ext cx="89439" cy="364425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41" name="Rounded Rectangle 7">
            <a:extLst>
              <a:ext uri="{FF2B5EF4-FFF2-40B4-BE49-F238E27FC236}">
                <a16:creationId xmlns:a16="http://schemas.microsoft.com/office/drawing/2014/main" id="{5A3295D9-D3B4-D8E8-B047-630C6811C7F7}"/>
              </a:ext>
            </a:extLst>
          </p:cNvPr>
          <p:cNvSpPr/>
          <p:nvPr/>
        </p:nvSpPr>
        <p:spPr>
          <a:xfrm>
            <a:off x="566927" y="4529104"/>
            <a:ext cx="10374558" cy="36442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b="1" dirty="0">
              <a:solidFill>
                <a:schemeClr val="tx2"/>
              </a:solidFill>
              <a:latin typeface="Aptos"/>
            </a:endParaRPr>
          </a:p>
          <a:p>
            <a:r>
              <a:rPr lang="es-CO" sz="1400" b="1" dirty="0">
                <a:solidFill>
                  <a:schemeClr val="tx2"/>
                </a:solidFill>
                <a:latin typeface="Aptos"/>
              </a:rPr>
              <a:t>Proponer lineamientos prácticos de adopción de conformal Prediction en contexto bancario real.</a:t>
            </a:r>
          </a:p>
          <a:p>
            <a:pPr algn="ctr"/>
            <a:endParaRPr lang="es-CO" noProof="0" dirty="0">
              <a:solidFill>
                <a:schemeClr val="tx1"/>
              </a:solidFill>
            </a:endParaRPr>
          </a:p>
        </p:txBody>
      </p:sp>
      <p:sp>
        <p:nvSpPr>
          <p:cNvPr id="42" name="Rectangle 8">
            <a:extLst>
              <a:ext uri="{FF2B5EF4-FFF2-40B4-BE49-F238E27FC236}">
                <a16:creationId xmlns:a16="http://schemas.microsoft.com/office/drawing/2014/main" id="{E2EA4587-FB76-BAA4-ADD4-B7F00C7806A9}"/>
              </a:ext>
            </a:extLst>
          </p:cNvPr>
          <p:cNvSpPr/>
          <p:nvPr/>
        </p:nvSpPr>
        <p:spPr>
          <a:xfrm>
            <a:off x="530351" y="4529104"/>
            <a:ext cx="89439" cy="364425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47" name="TextBox 2">
            <a:extLst>
              <a:ext uri="{FF2B5EF4-FFF2-40B4-BE49-F238E27FC236}">
                <a16:creationId xmlns:a16="http://schemas.microsoft.com/office/drawing/2014/main" id="{EF47DF6A-A018-BF2E-8291-5BF9BD83306A}"/>
              </a:ext>
            </a:extLst>
          </p:cNvPr>
          <p:cNvSpPr txBox="1"/>
          <p:nvPr/>
        </p:nvSpPr>
        <p:spPr>
          <a:xfrm>
            <a:off x="11774884" y="6573594"/>
            <a:ext cx="417116" cy="2308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lang="es-CO" sz="900" b="1" noProof="0" dirty="0">
                <a:solidFill>
                  <a:srgbClr val="475569"/>
                </a:solidFill>
                <a:latin typeface="Aptos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27763435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30352" y="800412"/>
            <a:ext cx="164592" cy="53035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4" name="TextBox 3"/>
          <p:cNvSpPr txBox="1"/>
          <p:nvPr/>
        </p:nvSpPr>
        <p:spPr>
          <a:xfrm>
            <a:off x="822960" y="745548"/>
            <a:ext cx="10012680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s-CO" b="1" noProof="0" dirty="0">
                <a:solidFill>
                  <a:srgbClr val="0F172A"/>
                </a:solidFill>
                <a:latin typeface="Aptos Display"/>
              </a:rPr>
              <a:t>Las probabilidades puntuales ayudan a ordenar clientes, pero no bastan para decidir con prudencia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078992"/>
            <a:ext cx="1024128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7" name="TextBox 6"/>
          <p:cNvSpPr txBox="1"/>
          <p:nvPr/>
        </p:nvSpPr>
        <p:spPr>
          <a:xfrm>
            <a:off x="11900358" y="6553722"/>
            <a:ext cx="228600" cy="2462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s-CO" sz="1000" b="1" noProof="0" dirty="0">
                <a:solidFill>
                  <a:srgbClr val="475569"/>
                </a:solidFill>
                <a:latin typeface="Aptos"/>
              </a:rPr>
              <a:t>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1353312"/>
            <a:ext cx="498348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9" name="TextBox 8"/>
          <p:cNvSpPr txBox="1"/>
          <p:nvPr/>
        </p:nvSpPr>
        <p:spPr>
          <a:xfrm>
            <a:off x="1115568" y="1664208"/>
            <a:ext cx="25603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s-CO" sz="1500" b="1" noProof="0" dirty="0">
                <a:solidFill>
                  <a:srgbClr val="EF4444"/>
                </a:solidFill>
                <a:latin typeface="Aptos"/>
              </a:rPr>
              <a:t>Sin incertidumbre explicita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97280" y="2057400"/>
            <a:ext cx="141732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11" name="Rectangle 10"/>
          <p:cNvSpPr/>
          <p:nvPr/>
        </p:nvSpPr>
        <p:spPr>
          <a:xfrm>
            <a:off x="1097280" y="2057400"/>
            <a:ext cx="73152" cy="9144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12" name="TextBox 11"/>
          <p:cNvSpPr txBox="1"/>
          <p:nvPr/>
        </p:nvSpPr>
        <p:spPr>
          <a:xfrm>
            <a:off x="1243584" y="2148840"/>
            <a:ext cx="11887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s-CO" sz="1100" b="1" noProof="0" dirty="0">
                <a:solidFill>
                  <a:srgbClr val="475569"/>
                </a:solidFill>
                <a:latin typeface="Aptos"/>
              </a:rPr>
              <a:t>PD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43584" y="2386584"/>
            <a:ext cx="11887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s-CO" sz="2000" b="1" noProof="0" dirty="0">
                <a:solidFill>
                  <a:srgbClr val="0F172A"/>
                </a:solidFill>
                <a:latin typeface="Aptos"/>
              </a:rPr>
              <a:t>12.0%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2212848"/>
            <a:ext cx="2560320" cy="83099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s-CO" sz="1600" b="0" noProof="0" dirty="0">
                <a:solidFill>
                  <a:srgbClr val="1F2937"/>
                </a:solidFill>
                <a:latin typeface="Aptos"/>
              </a:rPr>
              <a:t>El modelo dice 12%, pero no muestra si esa cifra es estable o frágil.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3246120"/>
            <a:ext cx="4297680" cy="11798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lang="es-CO" sz="1600" noProof="0" dirty="0">
                <a:solidFill>
                  <a:srgbClr val="1F2937"/>
                </a:solidFill>
                <a:latin typeface="Aptos"/>
              </a:rPr>
              <a:t>• La decisión parece exacta, pero oculta el rango de incertidumbre.</a:t>
            </a:r>
          </a:p>
          <a:p>
            <a:pPr>
              <a:spcAft>
                <a:spcPts val="800"/>
              </a:spcAft>
            </a:pPr>
            <a:r>
              <a:rPr lang="es-CO" sz="1600" noProof="0" dirty="0">
                <a:solidFill>
                  <a:srgbClr val="1F2937"/>
                </a:solidFill>
                <a:latin typeface="Aptos"/>
              </a:rPr>
              <a:t>• Eso puede llevar a sobreconfianza en originación o provisión.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44768" y="1353312"/>
            <a:ext cx="4983480" cy="4526280"/>
          </a:xfrm>
          <a:prstGeom prst="roundRect">
            <a:avLst/>
          </a:prstGeom>
          <a:solidFill>
            <a:srgbClr val="F0F9FF"/>
          </a:solidFill>
          <a:ln w="1270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17" name="TextBox 16"/>
          <p:cNvSpPr txBox="1"/>
          <p:nvPr/>
        </p:nvSpPr>
        <p:spPr>
          <a:xfrm>
            <a:off x="6400800" y="1664208"/>
            <a:ext cx="3721608" cy="3231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s-CO" sz="1500" b="1" noProof="0" dirty="0">
                <a:solidFill>
                  <a:srgbClr val="10B981"/>
                </a:solidFill>
                <a:latin typeface="Aptos"/>
              </a:rPr>
              <a:t>Con incertidumbre explicita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82512" y="2057400"/>
            <a:ext cx="141732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19" name="Rectangle 18"/>
          <p:cNvSpPr/>
          <p:nvPr/>
        </p:nvSpPr>
        <p:spPr>
          <a:xfrm>
            <a:off x="6382512" y="2057400"/>
            <a:ext cx="73152" cy="9144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20" name="TextBox 19"/>
          <p:cNvSpPr txBox="1"/>
          <p:nvPr/>
        </p:nvSpPr>
        <p:spPr>
          <a:xfrm>
            <a:off x="6528816" y="2148840"/>
            <a:ext cx="11887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s-CO" sz="1100" b="1" noProof="0" dirty="0">
                <a:solidFill>
                  <a:srgbClr val="475569"/>
                </a:solidFill>
                <a:latin typeface="Aptos"/>
              </a:rPr>
              <a:t>PD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28816" y="2386584"/>
            <a:ext cx="11887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s-CO" sz="2000" b="1" noProof="0" dirty="0">
                <a:solidFill>
                  <a:srgbClr val="0F172A"/>
                </a:solidFill>
                <a:latin typeface="Aptos"/>
              </a:rPr>
              <a:t>12.0%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73568" y="2057400"/>
            <a:ext cx="214884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23" name="Rectangle 22"/>
          <p:cNvSpPr/>
          <p:nvPr/>
        </p:nvSpPr>
        <p:spPr>
          <a:xfrm>
            <a:off x="7973568" y="2057400"/>
            <a:ext cx="73152" cy="9144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24" name="TextBox 23"/>
          <p:cNvSpPr txBox="1"/>
          <p:nvPr/>
        </p:nvSpPr>
        <p:spPr>
          <a:xfrm>
            <a:off x="8119872" y="2148840"/>
            <a:ext cx="19202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s-CO" sz="1100" b="1" noProof="0" dirty="0">
                <a:solidFill>
                  <a:srgbClr val="475569"/>
                </a:solidFill>
                <a:latin typeface="Aptos"/>
              </a:rPr>
              <a:t>Intervalo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19872" y="2386584"/>
            <a:ext cx="1920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s-CO" sz="2000" b="1" noProof="0" dirty="0">
                <a:solidFill>
                  <a:srgbClr val="0F172A"/>
                </a:solidFill>
                <a:latin typeface="Aptos"/>
              </a:rPr>
              <a:t>[8%, 17%]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3218688"/>
            <a:ext cx="4297680" cy="5847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s-CO" sz="1600" b="0" noProof="0" dirty="0">
                <a:solidFill>
                  <a:srgbClr val="1F2937"/>
                </a:solidFill>
                <a:latin typeface="Aptos"/>
              </a:rPr>
              <a:t>Ahora la misma predicción se interpreta con un rango confiable.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3749039"/>
            <a:ext cx="4297680" cy="11798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lang="es-CO" sz="1600" noProof="0" dirty="0">
                <a:solidFill>
                  <a:srgbClr val="1F2937"/>
                </a:solidFill>
                <a:latin typeface="Aptos"/>
              </a:rPr>
              <a:t>• Se puede distinguir entre predicciones precisas y predicciones frágiles.</a:t>
            </a:r>
          </a:p>
          <a:p>
            <a:pPr>
              <a:spcAft>
                <a:spcPts val="800"/>
              </a:spcAft>
            </a:pPr>
            <a:r>
              <a:rPr lang="es-CO" sz="1600" noProof="0" dirty="0">
                <a:solidFill>
                  <a:srgbClr val="1F2937"/>
                </a:solidFill>
                <a:latin typeface="Aptos"/>
              </a:rPr>
              <a:t>• Eso vuelve la decisión mas defendible para negocio y regulación.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956566" y="6405372"/>
            <a:ext cx="10607040" cy="2462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s-CO" sz="1000" b="0" noProof="0" dirty="0">
                <a:solidFill>
                  <a:srgbClr val="64748B"/>
                </a:solidFill>
                <a:latin typeface="Aptos"/>
              </a:rPr>
              <a:t>Motivación del proyecto: pasar de ranking a decisión bajo incertidumbre.</a:t>
            </a:r>
          </a:p>
        </p:txBody>
      </p:sp>
      <p:pic>
        <p:nvPicPr>
          <p:cNvPr id="29" name="Imagen 28">
            <a:extLst>
              <a:ext uri="{FF2B5EF4-FFF2-40B4-BE49-F238E27FC236}">
                <a16:creationId xmlns:a16="http://schemas.microsoft.com/office/drawing/2014/main" id="{55C1C95C-67BA-6200-CE6E-C568C66BA7D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43" t="29881" r="57618" b="29524"/>
          <a:stretch/>
        </p:blipFill>
        <p:spPr>
          <a:xfrm>
            <a:off x="0" y="0"/>
            <a:ext cx="2953753" cy="568389"/>
          </a:xfrm>
          <a:prstGeom prst="rect">
            <a:avLst/>
          </a:prstGeom>
        </p:spPr>
      </p:pic>
      <p:pic>
        <p:nvPicPr>
          <p:cNvPr id="30" name="Imagen 29">
            <a:extLst>
              <a:ext uri="{FF2B5EF4-FFF2-40B4-BE49-F238E27FC236}">
                <a16:creationId xmlns:a16="http://schemas.microsoft.com/office/drawing/2014/main" id="{95A95E23-D186-1181-5677-D906A0A72F1A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278" b="27496"/>
          <a:stretch/>
        </p:blipFill>
        <p:spPr>
          <a:xfrm>
            <a:off x="9987521" y="-146109"/>
            <a:ext cx="2405838" cy="2339126"/>
          </a:xfrm>
          <a:prstGeom prst="rect">
            <a:avLst/>
          </a:prstGeom>
        </p:spPr>
      </p:pic>
      <p:pic>
        <p:nvPicPr>
          <p:cNvPr id="31" name="Imagen 30">
            <a:extLst>
              <a:ext uri="{FF2B5EF4-FFF2-40B4-BE49-F238E27FC236}">
                <a16:creationId xmlns:a16="http://schemas.microsoft.com/office/drawing/2014/main" id="{33D3744F-49A5-3D7F-78BE-A0A7BFDC6C7B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278" b="27496"/>
          <a:stretch/>
        </p:blipFill>
        <p:spPr>
          <a:xfrm rot="10800000">
            <a:off x="-218093" y="4408396"/>
            <a:ext cx="2684567" cy="261012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30352" y="819201"/>
            <a:ext cx="164592" cy="53035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3" name="TextBox 2"/>
          <p:cNvSpPr txBox="1"/>
          <p:nvPr/>
        </p:nvSpPr>
        <p:spPr>
          <a:xfrm>
            <a:off x="11736888" y="6547409"/>
            <a:ext cx="374144" cy="2308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lang="es-CO" sz="900" b="1" noProof="0" dirty="0">
                <a:solidFill>
                  <a:srgbClr val="475569"/>
                </a:solidFill>
                <a:latin typeface="Aptos"/>
              </a:rPr>
              <a:t>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764337"/>
            <a:ext cx="10369296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s-CO" b="1" noProof="0" dirty="0">
                <a:solidFill>
                  <a:srgbClr val="0F172A"/>
                </a:solidFill>
                <a:latin typeface="Aptos Display"/>
              </a:rPr>
              <a:t>Conformal Prediction agrega un rango confiable alrededor de cada predicción, no solo un numero puntual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078992"/>
            <a:ext cx="1024128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8" name="Rounded Rectangle 7"/>
          <p:cNvSpPr/>
          <p:nvPr/>
        </p:nvSpPr>
        <p:spPr>
          <a:xfrm>
            <a:off x="868680" y="1389888"/>
            <a:ext cx="1097280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9" name="Rounded Rectangle 8"/>
          <p:cNvSpPr/>
          <p:nvPr/>
        </p:nvSpPr>
        <p:spPr>
          <a:xfrm>
            <a:off x="1143000" y="2011680"/>
            <a:ext cx="2331720" cy="23317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10" name="TextBox 9"/>
          <p:cNvSpPr txBox="1"/>
          <p:nvPr/>
        </p:nvSpPr>
        <p:spPr>
          <a:xfrm>
            <a:off x="1307592" y="2240280"/>
            <a:ext cx="17373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s-CO" sz="1300" b="1" noProof="0" dirty="0">
                <a:solidFill>
                  <a:srgbClr val="475569"/>
                </a:solidFill>
                <a:latin typeface="Aptos"/>
              </a:rPr>
              <a:t>Cliente 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07592" y="2670048"/>
            <a:ext cx="16459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s-CO" sz="2400" b="1" noProof="0" dirty="0">
                <a:solidFill>
                  <a:srgbClr val="0F172A"/>
                </a:solidFill>
                <a:latin typeface="Aptos"/>
              </a:rPr>
              <a:t>PD 6%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07592" y="3090672"/>
            <a:ext cx="182880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s-CO" sz="1800" b="1" noProof="0" dirty="0">
                <a:solidFill>
                  <a:srgbClr val="0EA5E9"/>
                </a:solidFill>
                <a:latin typeface="Aptos"/>
              </a:rPr>
              <a:t>[4%, 8%]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07592" y="3611880"/>
            <a:ext cx="1737360" cy="82296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14" name="TextBox 13"/>
          <p:cNvSpPr txBox="1"/>
          <p:nvPr/>
        </p:nvSpPr>
        <p:spPr>
          <a:xfrm>
            <a:off x="1307592" y="3767328"/>
            <a:ext cx="1828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s-CO" sz="1100" b="1" noProof="0" dirty="0">
                <a:solidFill>
                  <a:srgbClr val="475569"/>
                </a:solidFill>
                <a:latin typeface="Aptos"/>
              </a:rPr>
              <a:t>Baja incertidumbre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069080" y="2011680"/>
            <a:ext cx="2331720" cy="23317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16" name="TextBox 15"/>
          <p:cNvSpPr txBox="1"/>
          <p:nvPr/>
        </p:nvSpPr>
        <p:spPr>
          <a:xfrm>
            <a:off x="4233672" y="2240280"/>
            <a:ext cx="17373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s-CO" sz="1300" b="1" noProof="0" dirty="0">
                <a:solidFill>
                  <a:srgbClr val="475569"/>
                </a:solidFill>
                <a:latin typeface="Aptos"/>
              </a:rPr>
              <a:t>Cliente 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33672" y="2670048"/>
            <a:ext cx="16459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s-CO" sz="2400" b="1" noProof="0" dirty="0">
                <a:solidFill>
                  <a:srgbClr val="0F172A"/>
                </a:solidFill>
                <a:latin typeface="Aptos"/>
              </a:rPr>
              <a:t>PD 12%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33672" y="3090672"/>
            <a:ext cx="182880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s-CO" sz="1800" b="1" noProof="0" dirty="0">
                <a:solidFill>
                  <a:srgbClr val="06B6D4"/>
                </a:solidFill>
                <a:latin typeface="Aptos"/>
              </a:rPr>
              <a:t>[8%, 17%]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33672" y="3611880"/>
            <a:ext cx="1737360" cy="8229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20" name="TextBox 19"/>
          <p:cNvSpPr txBox="1"/>
          <p:nvPr/>
        </p:nvSpPr>
        <p:spPr>
          <a:xfrm>
            <a:off x="4233672" y="3767328"/>
            <a:ext cx="1828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s-CO" sz="1100" b="1" noProof="0" dirty="0">
                <a:solidFill>
                  <a:srgbClr val="475569"/>
                </a:solidFill>
                <a:latin typeface="Aptos"/>
              </a:rPr>
              <a:t>Media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995160" y="2011680"/>
            <a:ext cx="2331720" cy="23317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22" name="TextBox 21"/>
          <p:cNvSpPr txBox="1"/>
          <p:nvPr/>
        </p:nvSpPr>
        <p:spPr>
          <a:xfrm>
            <a:off x="7159752" y="2240280"/>
            <a:ext cx="17373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s-CO" sz="1300" b="1" noProof="0" dirty="0">
                <a:solidFill>
                  <a:srgbClr val="475569"/>
                </a:solidFill>
                <a:latin typeface="Aptos"/>
              </a:rPr>
              <a:t>Cliente 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59752" y="2670048"/>
            <a:ext cx="16459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s-CO" sz="2400" b="1" noProof="0" dirty="0">
                <a:solidFill>
                  <a:srgbClr val="0F172A"/>
                </a:solidFill>
                <a:latin typeface="Aptos"/>
              </a:rPr>
              <a:t>PD 14%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59752" y="3090672"/>
            <a:ext cx="182880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s-CO" sz="1800" b="1" noProof="0" dirty="0">
                <a:solidFill>
                  <a:srgbClr val="F97316"/>
                </a:solidFill>
                <a:latin typeface="Aptos"/>
              </a:rPr>
              <a:t>[5%, 28%]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159752" y="3611880"/>
            <a:ext cx="1737360" cy="8229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26" name="TextBox 25"/>
          <p:cNvSpPr txBox="1"/>
          <p:nvPr/>
        </p:nvSpPr>
        <p:spPr>
          <a:xfrm>
            <a:off x="7159752" y="3767328"/>
            <a:ext cx="1828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s-CO" sz="1100" b="1" noProof="0" dirty="0">
                <a:solidFill>
                  <a:srgbClr val="475569"/>
                </a:solidFill>
                <a:latin typeface="Aptos"/>
              </a:rPr>
              <a:t>Alta incertidumbre</a:t>
            </a:r>
          </a:p>
        </p:txBody>
      </p:sp>
      <p:sp>
        <p:nvSpPr>
          <p:cNvPr id="27" name="Chevron 26"/>
          <p:cNvSpPr/>
          <p:nvPr/>
        </p:nvSpPr>
        <p:spPr>
          <a:xfrm>
            <a:off x="3639312" y="2816352"/>
            <a:ext cx="292608" cy="411480"/>
          </a:xfrm>
          <a:prstGeom prst="chevron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28" name="Chevron 27"/>
          <p:cNvSpPr/>
          <p:nvPr/>
        </p:nvSpPr>
        <p:spPr>
          <a:xfrm>
            <a:off x="6565392" y="2816352"/>
            <a:ext cx="292608" cy="411480"/>
          </a:xfrm>
          <a:prstGeom prst="chevron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29" name="TextBox 28"/>
          <p:cNvSpPr txBox="1"/>
          <p:nvPr/>
        </p:nvSpPr>
        <p:spPr>
          <a:xfrm>
            <a:off x="1208762" y="4843140"/>
            <a:ext cx="6407063" cy="3231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s-CO" sz="1500" b="1" noProof="0" dirty="0">
                <a:solidFill>
                  <a:srgbClr val="0F172A"/>
                </a:solidFill>
                <a:latin typeface="Aptos"/>
              </a:rPr>
              <a:t>Idea clave: El ancho del intervalo cambia con la confianza del modelo.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931513" y="6373368"/>
            <a:ext cx="106070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s-CO" sz="1000" b="0" noProof="0" dirty="0">
                <a:solidFill>
                  <a:srgbClr val="64748B"/>
                </a:solidFill>
                <a:latin typeface="Aptos"/>
              </a:rPr>
              <a:t>Fuente conceptual: Vovk et al. (2022); Angelopoulos y Bates (2023).</a:t>
            </a:r>
          </a:p>
        </p:txBody>
      </p:sp>
      <p:pic>
        <p:nvPicPr>
          <p:cNvPr id="30" name="Imagen 29">
            <a:extLst>
              <a:ext uri="{FF2B5EF4-FFF2-40B4-BE49-F238E27FC236}">
                <a16:creationId xmlns:a16="http://schemas.microsoft.com/office/drawing/2014/main" id="{10835408-DD12-BF98-EF93-F1CB5E86E7B3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43" t="29881" r="57618" b="29524"/>
          <a:stretch/>
        </p:blipFill>
        <p:spPr>
          <a:xfrm>
            <a:off x="0" y="0"/>
            <a:ext cx="2953753" cy="568389"/>
          </a:xfrm>
          <a:prstGeom prst="rect">
            <a:avLst/>
          </a:prstGeom>
        </p:spPr>
      </p:pic>
      <p:pic>
        <p:nvPicPr>
          <p:cNvPr id="33" name="Imagen 32">
            <a:extLst>
              <a:ext uri="{FF2B5EF4-FFF2-40B4-BE49-F238E27FC236}">
                <a16:creationId xmlns:a16="http://schemas.microsoft.com/office/drawing/2014/main" id="{7B68EBD4-9C10-1C9C-B78E-8A6BBB4139F7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278" b="27496"/>
          <a:stretch/>
        </p:blipFill>
        <p:spPr>
          <a:xfrm>
            <a:off x="9989337" y="-137237"/>
            <a:ext cx="2405838" cy="2339126"/>
          </a:xfrm>
          <a:prstGeom prst="rect">
            <a:avLst/>
          </a:prstGeom>
        </p:spPr>
      </p:pic>
      <p:pic>
        <p:nvPicPr>
          <p:cNvPr id="34" name="Imagen 33">
            <a:extLst>
              <a:ext uri="{FF2B5EF4-FFF2-40B4-BE49-F238E27FC236}">
                <a16:creationId xmlns:a16="http://schemas.microsoft.com/office/drawing/2014/main" id="{117D8884-56F9-F621-7E6D-01CE7EA9B99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278" b="27496"/>
          <a:stretch/>
        </p:blipFill>
        <p:spPr>
          <a:xfrm rot="10800000">
            <a:off x="-218093" y="4408396"/>
            <a:ext cx="2684567" cy="2610127"/>
          </a:xfrm>
          <a:prstGeom prst="rect">
            <a:avLst/>
          </a:prstGeom>
        </p:spPr>
      </p:pic>
      <p:pic>
        <p:nvPicPr>
          <p:cNvPr id="35" name="Imagen 34">
            <a:extLst>
              <a:ext uri="{FF2B5EF4-FFF2-40B4-BE49-F238E27FC236}">
                <a16:creationId xmlns:a16="http://schemas.microsoft.com/office/drawing/2014/main" id="{86381132-4969-BB4A-8125-AD4625EAE06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02590" y="1929543"/>
            <a:ext cx="1313451" cy="1250083"/>
          </a:xfrm>
          <a:prstGeom prst="rect">
            <a:avLst/>
          </a:prstGeom>
        </p:spPr>
      </p:pic>
      <p:pic>
        <p:nvPicPr>
          <p:cNvPr id="36" name="Imagen 35">
            <a:extLst>
              <a:ext uri="{FF2B5EF4-FFF2-40B4-BE49-F238E27FC236}">
                <a16:creationId xmlns:a16="http://schemas.microsoft.com/office/drawing/2014/main" id="{A2960FEE-44EA-01E6-7BF3-30277BDB0B0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79229" y="3567101"/>
            <a:ext cx="1468848" cy="1552598"/>
          </a:xfrm>
          <a:prstGeom prst="rect">
            <a:avLst/>
          </a:prstGeom>
        </p:spPr>
      </p:pic>
      <p:cxnSp>
        <p:nvCxnSpPr>
          <p:cNvPr id="37" name="Conector recto de flecha 36">
            <a:extLst>
              <a:ext uri="{FF2B5EF4-FFF2-40B4-BE49-F238E27FC236}">
                <a16:creationId xmlns:a16="http://schemas.microsoft.com/office/drawing/2014/main" id="{0F606C74-C567-B11C-4312-9F88BCB01262}"/>
              </a:ext>
            </a:extLst>
          </p:cNvPr>
          <p:cNvCxnSpPr>
            <a:cxnSpLocks/>
          </p:cNvCxnSpPr>
          <p:nvPr/>
        </p:nvCxnSpPr>
        <p:spPr>
          <a:xfrm>
            <a:off x="10359315" y="3179626"/>
            <a:ext cx="0" cy="38365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30352" y="731519"/>
            <a:ext cx="164592" cy="53035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4" name="TextBox 3"/>
          <p:cNvSpPr txBox="1"/>
          <p:nvPr/>
        </p:nvSpPr>
        <p:spPr>
          <a:xfrm>
            <a:off x="822960" y="676655"/>
            <a:ext cx="10012680" cy="8046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s-CO" sz="2200" b="1" noProof="0" dirty="0">
                <a:solidFill>
                  <a:srgbClr val="0F172A"/>
                </a:solidFill>
                <a:latin typeface="Aptos Display"/>
              </a:rPr>
              <a:t>Conformal Prediction en una imagen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078992"/>
            <a:ext cx="1024128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7" name="TextBox 6"/>
          <p:cNvSpPr txBox="1"/>
          <p:nvPr/>
        </p:nvSpPr>
        <p:spPr>
          <a:xfrm>
            <a:off x="11855384" y="6519044"/>
            <a:ext cx="228600" cy="2462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s-CO" sz="1000" b="1" noProof="0" dirty="0">
                <a:solidFill>
                  <a:srgbClr val="475569"/>
                </a:solidFill>
                <a:latin typeface="Aptos"/>
              </a:rPr>
              <a:t>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79" y="1316736"/>
            <a:ext cx="7035243" cy="45537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pic>
        <p:nvPicPr>
          <p:cNvPr id="9" name="Picture 8" descr="conformal_schemat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59" y="1609344"/>
            <a:ext cx="6626895" cy="3977639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110602" y="1316736"/>
            <a:ext cx="3063365" cy="455371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11" name="TextBox 10"/>
          <p:cNvSpPr txBox="1"/>
          <p:nvPr/>
        </p:nvSpPr>
        <p:spPr>
          <a:xfrm>
            <a:off x="8228096" y="1572768"/>
            <a:ext cx="164090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s-CO" sz="1400" b="1" noProof="0" dirty="0">
                <a:solidFill>
                  <a:srgbClr val="0EA5E9"/>
                </a:solidFill>
                <a:latin typeface="Aptos"/>
              </a:rPr>
              <a:t>Paso a paso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8096" y="1901952"/>
            <a:ext cx="2842477" cy="28520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lang="es-CO" sz="1300" noProof="0" dirty="0">
                <a:solidFill>
                  <a:srgbClr val="1F2937"/>
                </a:solidFill>
                <a:latin typeface="Aptos"/>
              </a:rPr>
              <a:t>- Primero se entrena y calibra el modelo puntual.</a:t>
            </a:r>
          </a:p>
          <a:p>
            <a:pPr>
              <a:spcAft>
                <a:spcPts val="700"/>
              </a:spcAft>
            </a:pPr>
            <a:r>
              <a:rPr lang="es-CO" sz="1300" noProof="0" dirty="0">
                <a:solidFill>
                  <a:srgbClr val="1F2937"/>
                </a:solidFill>
                <a:latin typeface="Aptos"/>
              </a:rPr>
              <a:t>- Luego se usa un set de calibración para medir errores pasados.</a:t>
            </a:r>
          </a:p>
          <a:p>
            <a:pPr>
              <a:spcAft>
                <a:spcPts val="700"/>
              </a:spcAft>
            </a:pPr>
            <a:r>
              <a:rPr lang="es-CO" sz="1300" noProof="0" dirty="0">
                <a:solidFill>
                  <a:srgbClr val="1F2937"/>
                </a:solidFill>
                <a:latin typeface="Aptos"/>
              </a:rPr>
              <a:t>- Ese error se resume en un cuantil q al nivel objetivo (90% o 95%).</a:t>
            </a:r>
          </a:p>
          <a:p>
            <a:pPr>
              <a:spcAft>
                <a:spcPts val="700"/>
              </a:spcAft>
            </a:pPr>
            <a:r>
              <a:rPr lang="es-CO" sz="1300" noProof="0" dirty="0">
                <a:solidFill>
                  <a:srgbClr val="1F2937"/>
                </a:solidFill>
                <a:latin typeface="Aptos"/>
              </a:rPr>
              <a:t>- Finalmente, cada nueva predicción recibe un intervalo plausible en vez de un solo numero.</a:t>
            </a:r>
          </a:p>
          <a:p>
            <a:pPr>
              <a:spcAft>
                <a:spcPts val="700"/>
              </a:spcAft>
            </a:pPr>
            <a:r>
              <a:rPr lang="es-CO" sz="1300" noProof="0" dirty="0">
                <a:solidFill>
                  <a:srgbClr val="1F2937"/>
                </a:solidFill>
                <a:latin typeface="Aptos"/>
              </a:rPr>
              <a:t>- En Mondrian, ese q se calcula por grade para no esconder subgrupos mal cubiertos.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8096" y="4700016"/>
            <a:ext cx="3008376" cy="2923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s-CO" sz="1300" b="1" noProof="0" dirty="0">
                <a:solidFill>
                  <a:srgbClr val="14B8A6"/>
                </a:solidFill>
                <a:latin typeface="Aptos"/>
              </a:rPr>
              <a:t>Calibración y conformal no compiten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8097" y="4956048"/>
            <a:ext cx="2800676" cy="83099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s-CO" sz="1200" b="0" noProof="0" dirty="0">
                <a:solidFill>
                  <a:srgbClr val="475569"/>
                </a:solidFill>
                <a:latin typeface="Aptos"/>
              </a:rPr>
              <a:t>La calibración corrige el nivel probabilístico; conformal agrega una banda de incertidumbre con cobertura controlada.</a:t>
            </a:r>
          </a:p>
        </p:txBody>
      </p:sp>
      <p:pic>
        <p:nvPicPr>
          <p:cNvPr id="16" name="Imagen 15">
            <a:extLst>
              <a:ext uri="{FF2B5EF4-FFF2-40B4-BE49-F238E27FC236}">
                <a16:creationId xmlns:a16="http://schemas.microsoft.com/office/drawing/2014/main" id="{A75C7146-FEB9-FD87-C1AC-EEA3FED2864D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43" t="29881" r="57618" b="29524"/>
          <a:stretch/>
        </p:blipFill>
        <p:spPr>
          <a:xfrm>
            <a:off x="0" y="0"/>
            <a:ext cx="2953753" cy="568389"/>
          </a:xfrm>
          <a:prstGeom prst="rect">
            <a:avLst/>
          </a:prstGeom>
        </p:spPr>
      </p:pic>
      <p:pic>
        <p:nvPicPr>
          <p:cNvPr id="17" name="Imagen 16">
            <a:extLst>
              <a:ext uri="{FF2B5EF4-FFF2-40B4-BE49-F238E27FC236}">
                <a16:creationId xmlns:a16="http://schemas.microsoft.com/office/drawing/2014/main" id="{14B1EBDB-AD02-C32E-52C3-7827158FA44E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278" b="27496"/>
          <a:stretch/>
        </p:blipFill>
        <p:spPr>
          <a:xfrm>
            <a:off x="9974055" y="-172868"/>
            <a:ext cx="2405838" cy="2339126"/>
          </a:xfrm>
          <a:prstGeom prst="rect">
            <a:avLst/>
          </a:prstGeom>
        </p:spPr>
      </p:pic>
      <p:pic>
        <p:nvPicPr>
          <p:cNvPr id="18" name="Imagen 17">
            <a:extLst>
              <a:ext uri="{FF2B5EF4-FFF2-40B4-BE49-F238E27FC236}">
                <a16:creationId xmlns:a16="http://schemas.microsoft.com/office/drawing/2014/main" id="{DC05165B-8642-61AA-5FE1-17B1142187A7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278" b="27496"/>
          <a:stretch/>
        </p:blipFill>
        <p:spPr>
          <a:xfrm rot="10800000">
            <a:off x="-218093" y="4408396"/>
            <a:ext cx="2684567" cy="261012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30352" y="731519"/>
            <a:ext cx="164592" cy="53035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4" name="TextBox 3"/>
          <p:cNvSpPr txBox="1"/>
          <p:nvPr/>
        </p:nvSpPr>
        <p:spPr>
          <a:xfrm>
            <a:off x="822960" y="676655"/>
            <a:ext cx="11082528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s-CO" sz="2000" b="1" noProof="0" dirty="0">
                <a:solidFill>
                  <a:srgbClr val="0F172A"/>
                </a:solidFill>
                <a:latin typeface="Aptos Display"/>
              </a:rPr>
              <a:t>La metodología de solución propuesta conecta objetivos, datos, experimentos y adopción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078992"/>
            <a:ext cx="1024128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7" name="TextBox 6"/>
          <p:cNvSpPr txBox="1"/>
          <p:nvPr/>
        </p:nvSpPr>
        <p:spPr>
          <a:xfrm>
            <a:off x="11905488" y="6592157"/>
            <a:ext cx="228600" cy="2462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s-CO" sz="1000" b="1" noProof="0" dirty="0">
                <a:solidFill>
                  <a:srgbClr val="475569"/>
                </a:solidFill>
                <a:latin typeface="Aptos"/>
              </a:rPr>
              <a:t>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1554480"/>
            <a:ext cx="2194560" cy="45262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9" name="TextBox 8"/>
          <p:cNvSpPr txBox="1"/>
          <p:nvPr/>
        </p:nvSpPr>
        <p:spPr>
          <a:xfrm>
            <a:off x="1033271" y="1792224"/>
            <a:ext cx="731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s-CO" sz="1100" b="1" noProof="0" dirty="0">
                <a:solidFill>
                  <a:srgbClr val="475569"/>
                </a:solidFill>
                <a:latin typeface="Aptos"/>
              </a:rPr>
              <a:t>Frente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1" y="2029968"/>
            <a:ext cx="17373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s-CO" sz="1600" b="1" noProof="0" dirty="0">
                <a:solidFill>
                  <a:srgbClr val="0EA5E9"/>
                </a:solidFill>
                <a:latin typeface="Aptos"/>
              </a:rPr>
              <a:t>Estado del arte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96695" y="2542032"/>
            <a:ext cx="192024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12" name="TextBox 11"/>
          <p:cNvSpPr txBox="1"/>
          <p:nvPr/>
        </p:nvSpPr>
        <p:spPr>
          <a:xfrm>
            <a:off x="1106424" y="2706624"/>
            <a:ext cx="1664208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lang="es-CO" sz="1200" b="1" noProof="0" dirty="0">
                <a:solidFill>
                  <a:srgbClr val="1F2937"/>
                </a:solidFill>
                <a:latin typeface="Aptos"/>
              </a:rPr>
              <a:t>Revisar literatura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96695" y="3474720"/>
            <a:ext cx="192024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14" name="TextBox 13"/>
          <p:cNvSpPr txBox="1"/>
          <p:nvPr/>
        </p:nvSpPr>
        <p:spPr>
          <a:xfrm>
            <a:off x="1106424" y="3639312"/>
            <a:ext cx="1664208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lang="es-CO" sz="1200" b="1" noProof="0" dirty="0">
                <a:solidFill>
                  <a:srgbClr val="1F2937"/>
                </a:solidFill>
                <a:latin typeface="Aptos"/>
              </a:rPr>
              <a:t>Comparar métodos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96695" y="4407408"/>
            <a:ext cx="192024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16" name="TextBox 15"/>
          <p:cNvSpPr txBox="1"/>
          <p:nvPr/>
        </p:nvSpPr>
        <p:spPr>
          <a:xfrm>
            <a:off x="1124711" y="4503420"/>
            <a:ext cx="1664208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lang="es-CO" sz="1200" b="1" noProof="0" dirty="0">
                <a:solidFill>
                  <a:srgbClr val="1F2937"/>
                </a:solidFill>
                <a:latin typeface="Aptos"/>
              </a:rPr>
              <a:t>Seleccionar técnicas relevantes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520440" y="1554480"/>
            <a:ext cx="2194560" cy="45262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18" name="TextBox 17"/>
          <p:cNvSpPr txBox="1"/>
          <p:nvPr/>
        </p:nvSpPr>
        <p:spPr>
          <a:xfrm>
            <a:off x="3685032" y="1792224"/>
            <a:ext cx="731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s-CO" sz="1100" b="1" noProof="0" dirty="0">
                <a:solidFill>
                  <a:srgbClr val="475569"/>
                </a:solidFill>
                <a:latin typeface="Aptos"/>
              </a:rPr>
              <a:t>Frente 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85032" y="2029968"/>
            <a:ext cx="17373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s-CO" sz="1600" b="1" noProof="0" dirty="0">
                <a:solidFill>
                  <a:srgbClr val="14B8A6"/>
                </a:solidFill>
                <a:latin typeface="Aptos"/>
              </a:rPr>
              <a:t>Datos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648456" y="2542032"/>
            <a:ext cx="192024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21" name="TextBox 20"/>
          <p:cNvSpPr txBox="1"/>
          <p:nvPr/>
        </p:nvSpPr>
        <p:spPr>
          <a:xfrm>
            <a:off x="3758184" y="2706624"/>
            <a:ext cx="1664208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lang="es-CO" sz="1200" b="1" noProof="0" dirty="0">
                <a:solidFill>
                  <a:srgbClr val="1F2937"/>
                </a:solidFill>
                <a:latin typeface="Aptos"/>
              </a:rPr>
              <a:t>Construir dataset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648456" y="3474720"/>
            <a:ext cx="192024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23" name="TextBox 22"/>
          <p:cNvSpPr txBox="1"/>
          <p:nvPr/>
        </p:nvSpPr>
        <p:spPr>
          <a:xfrm>
            <a:off x="3758184" y="3639312"/>
            <a:ext cx="1664208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lang="es-CO" sz="1200" b="1" noProof="0" dirty="0">
                <a:solidFill>
                  <a:srgbClr val="1F2937"/>
                </a:solidFill>
                <a:latin typeface="Aptos"/>
              </a:rPr>
              <a:t>Definir PD/LGD/EAD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648456" y="4407408"/>
            <a:ext cx="192024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25" name="TextBox 24"/>
          <p:cNvSpPr txBox="1"/>
          <p:nvPr/>
        </p:nvSpPr>
        <p:spPr>
          <a:xfrm>
            <a:off x="3758184" y="4572000"/>
            <a:ext cx="1664208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lang="es-CO" sz="1200" b="1" noProof="0" dirty="0">
                <a:solidFill>
                  <a:srgbClr val="1F2937"/>
                </a:solidFill>
                <a:latin typeface="Aptos"/>
              </a:rPr>
              <a:t>Separar train-cal-test OOT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72200" y="1554480"/>
            <a:ext cx="2194560" cy="45262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27" name="TextBox 26"/>
          <p:cNvSpPr txBox="1"/>
          <p:nvPr/>
        </p:nvSpPr>
        <p:spPr>
          <a:xfrm>
            <a:off x="6336792" y="1792224"/>
            <a:ext cx="731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s-CO" sz="1100" b="1" noProof="0" dirty="0">
                <a:solidFill>
                  <a:srgbClr val="475569"/>
                </a:solidFill>
                <a:latin typeface="Aptos"/>
              </a:rPr>
              <a:t>Frente 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36792" y="2029968"/>
            <a:ext cx="192024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s-CO" sz="1600" b="1" noProof="0" dirty="0">
                <a:solidFill>
                  <a:srgbClr val="F97316"/>
                </a:solidFill>
                <a:latin typeface="Aptos"/>
              </a:rPr>
              <a:t>Experimentación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300216" y="2542032"/>
            <a:ext cx="192024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30" name="TextBox 29"/>
          <p:cNvSpPr txBox="1"/>
          <p:nvPr/>
        </p:nvSpPr>
        <p:spPr>
          <a:xfrm>
            <a:off x="6409944" y="2706624"/>
            <a:ext cx="1664208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lang="es-CO" sz="1200" b="1" noProof="0" dirty="0">
                <a:solidFill>
                  <a:srgbClr val="1F2937"/>
                </a:solidFill>
                <a:latin typeface="Aptos"/>
              </a:rPr>
              <a:t>Entrenar y calibrar PD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300216" y="3474720"/>
            <a:ext cx="192024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32" name="TextBox 31"/>
          <p:cNvSpPr txBox="1"/>
          <p:nvPr/>
        </p:nvSpPr>
        <p:spPr>
          <a:xfrm>
            <a:off x="6409944" y="3639312"/>
            <a:ext cx="1664208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lang="es-CO" sz="1200" b="1" noProof="0" dirty="0">
                <a:solidFill>
                  <a:srgbClr val="1F2937"/>
                </a:solidFill>
                <a:latin typeface="Aptos"/>
              </a:rPr>
              <a:t>Aplicar Split / Mondrian / CQR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300216" y="4407408"/>
            <a:ext cx="192024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34" name="TextBox 33"/>
          <p:cNvSpPr txBox="1"/>
          <p:nvPr/>
        </p:nvSpPr>
        <p:spPr>
          <a:xfrm>
            <a:off x="6409944" y="4572000"/>
            <a:ext cx="1664208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lang="es-CO" sz="1200" b="1" noProof="0" dirty="0">
                <a:solidFill>
                  <a:srgbClr val="1F2937"/>
                </a:solidFill>
                <a:latin typeface="Aptos"/>
              </a:rPr>
              <a:t>Validar Resultados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823960" y="1554480"/>
            <a:ext cx="2194560" cy="45262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36" name="TextBox 35"/>
          <p:cNvSpPr txBox="1"/>
          <p:nvPr/>
        </p:nvSpPr>
        <p:spPr>
          <a:xfrm>
            <a:off x="8988552" y="1792224"/>
            <a:ext cx="731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s-CO" sz="1100" b="1" noProof="0" dirty="0">
                <a:solidFill>
                  <a:srgbClr val="475569"/>
                </a:solidFill>
                <a:latin typeface="Aptos"/>
              </a:rPr>
              <a:t>Frente 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988552" y="2029968"/>
            <a:ext cx="1847088" cy="5847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s-CO" sz="1600" b="1" noProof="0" dirty="0">
                <a:solidFill>
                  <a:srgbClr val="10B981"/>
                </a:solidFill>
                <a:latin typeface="Aptos"/>
              </a:rPr>
              <a:t>Evaluación y adopción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951976" y="2542032"/>
            <a:ext cx="192024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39" name="TextBox 38"/>
          <p:cNvSpPr txBox="1"/>
          <p:nvPr/>
        </p:nvSpPr>
        <p:spPr>
          <a:xfrm>
            <a:off x="9061704" y="2706624"/>
            <a:ext cx="1664208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lang="es-CO" sz="1200" b="1" noProof="0" dirty="0">
                <a:solidFill>
                  <a:srgbClr val="1F2937"/>
                </a:solidFill>
                <a:latin typeface="Aptos"/>
              </a:rPr>
              <a:t>Coverage y eficiencia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951976" y="3474720"/>
            <a:ext cx="192024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41" name="TextBox 40"/>
          <p:cNvSpPr txBox="1"/>
          <p:nvPr/>
        </p:nvSpPr>
        <p:spPr>
          <a:xfrm>
            <a:off x="9061704" y="3639312"/>
            <a:ext cx="1664208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lang="es-CO" sz="1200" b="1" noProof="0" dirty="0">
                <a:solidFill>
                  <a:srgbClr val="1F2937"/>
                </a:solidFill>
                <a:latin typeface="Aptos"/>
              </a:rPr>
              <a:t>IFRS9 y backtesting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951976" y="4407408"/>
            <a:ext cx="192024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43" name="TextBox 42"/>
          <p:cNvSpPr txBox="1"/>
          <p:nvPr/>
        </p:nvSpPr>
        <p:spPr>
          <a:xfrm>
            <a:off x="9061704" y="4572000"/>
            <a:ext cx="1664208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lang="es-CO" sz="1200" b="1" noProof="0" dirty="0">
                <a:solidFill>
                  <a:srgbClr val="1F2937"/>
                </a:solidFill>
                <a:latin typeface="Aptos"/>
              </a:rPr>
              <a:t>Recomendaciones de uso real</a:t>
            </a:r>
          </a:p>
        </p:txBody>
      </p:sp>
      <p:sp>
        <p:nvSpPr>
          <p:cNvPr id="44" name="Chevron 43"/>
          <p:cNvSpPr/>
          <p:nvPr/>
        </p:nvSpPr>
        <p:spPr>
          <a:xfrm>
            <a:off x="3182237" y="3419856"/>
            <a:ext cx="237744" cy="384048"/>
          </a:xfrm>
          <a:prstGeom prst="chevron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45" name="Chevron 44"/>
          <p:cNvSpPr/>
          <p:nvPr/>
        </p:nvSpPr>
        <p:spPr>
          <a:xfrm>
            <a:off x="5852786" y="3419856"/>
            <a:ext cx="237744" cy="384048"/>
          </a:xfrm>
          <a:prstGeom prst="chevron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46" name="Chevron 45"/>
          <p:cNvSpPr/>
          <p:nvPr/>
        </p:nvSpPr>
        <p:spPr>
          <a:xfrm>
            <a:off x="8473231" y="3419856"/>
            <a:ext cx="237744" cy="384048"/>
          </a:xfrm>
          <a:prstGeom prst="chevron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47" name="TextBox 46"/>
          <p:cNvSpPr txBox="1"/>
          <p:nvPr/>
        </p:nvSpPr>
        <p:spPr>
          <a:xfrm>
            <a:off x="1786461" y="6454750"/>
            <a:ext cx="10698480" cy="2462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s-CO" sz="1000" b="0" noProof="0" dirty="0">
                <a:solidFill>
                  <a:srgbClr val="64748B"/>
                </a:solidFill>
                <a:latin typeface="Aptos"/>
              </a:rPr>
              <a:t>Metodología propuesta en cuatro frentes: revisar, construir, experimentar y evaluar/adoptar.</a:t>
            </a:r>
          </a:p>
        </p:txBody>
      </p:sp>
      <p:pic>
        <p:nvPicPr>
          <p:cNvPr id="48" name="Imagen 47">
            <a:extLst>
              <a:ext uri="{FF2B5EF4-FFF2-40B4-BE49-F238E27FC236}">
                <a16:creationId xmlns:a16="http://schemas.microsoft.com/office/drawing/2014/main" id="{88EA1CDF-C51A-B6DA-4F5F-EE61879DEE1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43" t="29881" r="57618" b="29524"/>
          <a:stretch/>
        </p:blipFill>
        <p:spPr>
          <a:xfrm>
            <a:off x="0" y="0"/>
            <a:ext cx="2953753" cy="568389"/>
          </a:xfrm>
          <a:prstGeom prst="rect">
            <a:avLst/>
          </a:prstGeom>
        </p:spPr>
      </p:pic>
      <p:pic>
        <p:nvPicPr>
          <p:cNvPr id="49" name="Imagen 48">
            <a:extLst>
              <a:ext uri="{FF2B5EF4-FFF2-40B4-BE49-F238E27FC236}">
                <a16:creationId xmlns:a16="http://schemas.microsoft.com/office/drawing/2014/main" id="{AAFACDD3-9905-963E-7769-39B95260ED1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278" b="27496"/>
          <a:stretch/>
        </p:blipFill>
        <p:spPr>
          <a:xfrm>
            <a:off x="9974055" y="-172868"/>
            <a:ext cx="2405838" cy="2339126"/>
          </a:xfrm>
          <a:prstGeom prst="rect">
            <a:avLst/>
          </a:prstGeom>
        </p:spPr>
      </p:pic>
      <p:pic>
        <p:nvPicPr>
          <p:cNvPr id="50" name="Imagen 49">
            <a:extLst>
              <a:ext uri="{FF2B5EF4-FFF2-40B4-BE49-F238E27FC236}">
                <a16:creationId xmlns:a16="http://schemas.microsoft.com/office/drawing/2014/main" id="{171CF412-4FE3-F1AF-3588-2028EE9EF13B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278" b="27496"/>
          <a:stretch/>
        </p:blipFill>
        <p:spPr>
          <a:xfrm rot="10800000">
            <a:off x="-218093" y="4408396"/>
            <a:ext cx="2684567" cy="2610127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30352" y="806675"/>
            <a:ext cx="164592" cy="53035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4" name="TextBox 3"/>
          <p:cNvSpPr txBox="1"/>
          <p:nvPr/>
        </p:nvSpPr>
        <p:spPr>
          <a:xfrm>
            <a:off x="822960" y="751811"/>
            <a:ext cx="10012680" cy="8046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s-CO" sz="2200" b="1" noProof="0" dirty="0">
                <a:solidFill>
                  <a:srgbClr val="0F172A"/>
                </a:solidFill>
                <a:latin typeface="Aptos Display"/>
              </a:rPr>
              <a:t>El pipeline va del dato crudo al impacto IFRS9 sin perder trazabilidad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078992"/>
            <a:ext cx="1024128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7" name="TextBox 6"/>
          <p:cNvSpPr txBox="1"/>
          <p:nvPr/>
        </p:nvSpPr>
        <p:spPr>
          <a:xfrm>
            <a:off x="11882001" y="6480715"/>
            <a:ext cx="368453" cy="2462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s-CO" sz="1000" b="1" noProof="0" dirty="0">
                <a:solidFill>
                  <a:srgbClr val="475569"/>
                </a:solidFill>
                <a:latin typeface="Aptos"/>
              </a:rPr>
              <a:t>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1298448"/>
            <a:ext cx="10287000" cy="4251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10" name="Rounded Rectangle 9"/>
          <p:cNvSpPr/>
          <p:nvPr/>
        </p:nvSpPr>
        <p:spPr>
          <a:xfrm>
            <a:off x="868680" y="5623560"/>
            <a:ext cx="3154680" cy="65836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11" name="TextBox 10"/>
          <p:cNvSpPr txBox="1"/>
          <p:nvPr/>
        </p:nvSpPr>
        <p:spPr>
          <a:xfrm>
            <a:off x="1060704" y="5779008"/>
            <a:ext cx="2880360" cy="4308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s-CO" sz="1100" b="1" noProof="0" dirty="0">
                <a:solidFill>
                  <a:srgbClr val="0F172A"/>
                </a:solidFill>
                <a:latin typeface="Aptos"/>
              </a:rPr>
              <a:t>1. Separar train / calibration / test usando OOT no es detalle técnico; evita leakage.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60520" y="5623560"/>
            <a:ext cx="3154680" cy="658368"/>
          </a:xfrm>
          <a:prstGeom prst="roundRect">
            <a:avLst/>
          </a:prstGeom>
          <a:solidFill>
            <a:srgbClr val="F0FDFA"/>
          </a:solidFill>
          <a:ln w="12700">
            <a:solidFill>
              <a:srgbClr val="5EEA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13" name="TextBox 12"/>
          <p:cNvSpPr txBox="1"/>
          <p:nvPr/>
        </p:nvSpPr>
        <p:spPr>
          <a:xfrm>
            <a:off x="4352544" y="5779008"/>
            <a:ext cx="2743200" cy="4308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s-CO" sz="1100" b="1" noProof="0" dirty="0">
                <a:solidFill>
                  <a:srgbClr val="0F172A"/>
                </a:solidFill>
                <a:latin typeface="Aptos"/>
              </a:rPr>
              <a:t>2. La capa conformal se monta sobre PD calibrada; no reemplaza calibración.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52360" y="5623560"/>
            <a:ext cx="3703320" cy="658368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15" name="TextBox 14"/>
          <p:cNvSpPr txBox="1"/>
          <p:nvPr/>
        </p:nvSpPr>
        <p:spPr>
          <a:xfrm>
            <a:off x="7644383" y="5779008"/>
            <a:ext cx="3246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s-CO" sz="1100" b="1" noProof="0" dirty="0">
                <a:solidFill>
                  <a:srgbClr val="0F172A"/>
                </a:solidFill>
                <a:latin typeface="Aptos"/>
              </a:rPr>
              <a:t>3. El cierre no se queda en ML: termina en backtesting y lectura de negocio.</a:t>
            </a:r>
          </a:p>
        </p:txBody>
      </p:sp>
      <p:pic>
        <p:nvPicPr>
          <p:cNvPr id="18" name="Imagen 17">
            <a:extLst>
              <a:ext uri="{FF2B5EF4-FFF2-40B4-BE49-F238E27FC236}">
                <a16:creationId xmlns:a16="http://schemas.microsoft.com/office/drawing/2014/main" id="{568C7827-4F28-3F2C-3026-76D21C715C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8972" y="2298527"/>
            <a:ext cx="10109236" cy="2699888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C1E7016E-8F1A-4A91-97A5-A8550948176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43" t="29881" r="57618" b="29524"/>
          <a:stretch/>
        </p:blipFill>
        <p:spPr>
          <a:xfrm>
            <a:off x="0" y="0"/>
            <a:ext cx="2953753" cy="568389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A16596AB-B1FB-C37B-B0BA-CCC81F0C566C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278" b="27496"/>
          <a:stretch/>
        </p:blipFill>
        <p:spPr>
          <a:xfrm>
            <a:off x="9952761" y="-113751"/>
            <a:ext cx="2405838" cy="2339126"/>
          </a:xfrm>
          <a:prstGeom prst="rect">
            <a:avLst/>
          </a:prstGeom>
        </p:spPr>
      </p:pic>
      <p:pic>
        <p:nvPicPr>
          <p:cNvPr id="16" name="Imagen 15">
            <a:extLst>
              <a:ext uri="{FF2B5EF4-FFF2-40B4-BE49-F238E27FC236}">
                <a16:creationId xmlns:a16="http://schemas.microsoft.com/office/drawing/2014/main" id="{E83547D5-8DCF-92F6-36F9-440E91D63895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278" b="27496"/>
          <a:stretch/>
        </p:blipFill>
        <p:spPr>
          <a:xfrm rot="10800000">
            <a:off x="-158462" y="5109604"/>
            <a:ext cx="1937157" cy="188344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30352" y="775360"/>
            <a:ext cx="164592" cy="53035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4" name="TextBox 3"/>
          <p:cNvSpPr txBox="1"/>
          <p:nvPr/>
        </p:nvSpPr>
        <p:spPr>
          <a:xfrm>
            <a:off x="822960" y="720496"/>
            <a:ext cx="10085832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s-CO" sz="2000" b="1" noProof="0" dirty="0">
                <a:solidFill>
                  <a:srgbClr val="0F172A"/>
                </a:solidFill>
                <a:latin typeface="Aptos Display"/>
              </a:rPr>
              <a:t>Lending Club fue el laboratorio ideal: publico, grande, temporal y con señal económica clara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078992"/>
            <a:ext cx="1024128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7" name="TextBox 6"/>
          <p:cNvSpPr txBox="1"/>
          <p:nvPr/>
        </p:nvSpPr>
        <p:spPr>
          <a:xfrm>
            <a:off x="11905488" y="6500717"/>
            <a:ext cx="338704" cy="2462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s-CO" sz="1000" b="1" noProof="0" dirty="0">
                <a:solidFill>
                  <a:srgbClr val="475569"/>
                </a:solidFill>
                <a:latin typeface="Aptos"/>
              </a:rPr>
              <a:t>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1353312"/>
            <a:ext cx="1645920" cy="8778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9" name="Rectangle 8"/>
          <p:cNvSpPr/>
          <p:nvPr/>
        </p:nvSpPr>
        <p:spPr>
          <a:xfrm>
            <a:off x="868680" y="1353312"/>
            <a:ext cx="73152" cy="877824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10" name="TextBox 9"/>
          <p:cNvSpPr txBox="1"/>
          <p:nvPr/>
        </p:nvSpPr>
        <p:spPr>
          <a:xfrm>
            <a:off x="1014983" y="1444752"/>
            <a:ext cx="14173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s-CO" sz="1100" b="1" noProof="0" dirty="0">
                <a:solidFill>
                  <a:srgbClr val="475569"/>
                </a:solidFill>
                <a:latin typeface="Aptos"/>
              </a:rPr>
              <a:t>Limpio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4983" y="1682495"/>
            <a:ext cx="1417320" cy="51206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s-CO" sz="2000" b="1" noProof="0" dirty="0">
                <a:solidFill>
                  <a:srgbClr val="0F172A"/>
                </a:solidFill>
                <a:latin typeface="Aptos"/>
              </a:rPr>
              <a:t>1.86M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8680" y="2377440"/>
            <a:ext cx="1645920" cy="8778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13" name="Rectangle 12"/>
          <p:cNvSpPr/>
          <p:nvPr/>
        </p:nvSpPr>
        <p:spPr>
          <a:xfrm>
            <a:off x="868680" y="2377440"/>
            <a:ext cx="73152" cy="877824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14" name="TextBox 13"/>
          <p:cNvSpPr txBox="1"/>
          <p:nvPr/>
        </p:nvSpPr>
        <p:spPr>
          <a:xfrm>
            <a:off x="1014983" y="2468880"/>
            <a:ext cx="14173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s-CO" sz="1100" b="1" noProof="0" dirty="0">
                <a:solidFill>
                  <a:srgbClr val="475569"/>
                </a:solidFill>
                <a:latin typeface="Aptos"/>
              </a:rPr>
              <a:t>Columnas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14983" y="2706624"/>
            <a:ext cx="1417320" cy="51206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s-CO" sz="2000" b="1" noProof="0" dirty="0">
                <a:solidFill>
                  <a:srgbClr val="0F172A"/>
                </a:solidFill>
                <a:latin typeface="Aptos"/>
              </a:rPr>
              <a:t>110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8680" y="3401568"/>
            <a:ext cx="1645920" cy="8778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17" name="Rectangle 16"/>
          <p:cNvSpPr/>
          <p:nvPr/>
        </p:nvSpPr>
        <p:spPr>
          <a:xfrm>
            <a:off x="868680" y="3401568"/>
            <a:ext cx="73152" cy="877824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18" name="TextBox 17"/>
          <p:cNvSpPr txBox="1"/>
          <p:nvPr/>
        </p:nvSpPr>
        <p:spPr>
          <a:xfrm>
            <a:off x="1014983" y="3493008"/>
            <a:ext cx="14173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s-CO" sz="1100" b="1" noProof="0" dirty="0">
                <a:solidFill>
                  <a:srgbClr val="475569"/>
                </a:solidFill>
                <a:latin typeface="Aptos"/>
              </a:rPr>
              <a:t>Horizonte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4983" y="3730752"/>
            <a:ext cx="1417320" cy="51206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s-CO" sz="2000" b="1" noProof="0" dirty="0">
                <a:solidFill>
                  <a:srgbClr val="0F172A"/>
                </a:solidFill>
                <a:latin typeface="Aptos"/>
              </a:rPr>
              <a:t>2007-2020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697480" y="1353312"/>
            <a:ext cx="3703320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21" name="TextBox 20"/>
          <p:cNvSpPr txBox="1"/>
          <p:nvPr/>
        </p:nvSpPr>
        <p:spPr>
          <a:xfrm>
            <a:off x="2907792" y="1572768"/>
            <a:ext cx="406908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s-CO" sz="1400" b="1" noProof="0" dirty="0">
                <a:solidFill>
                  <a:srgbClr val="0EA5E9"/>
                </a:solidFill>
                <a:latin typeface="Aptos"/>
              </a:rPr>
              <a:t>Que dataset se usó exactamente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07792" y="1856231"/>
            <a:ext cx="3154680" cy="14721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lang="es-CO" sz="1300" noProof="0" dirty="0">
                <a:solidFill>
                  <a:srgbClr val="1F2937"/>
                </a:solidFill>
                <a:latin typeface="Aptos"/>
              </a:rPr>
              <a:t>- Prestamos históricos de Lending Club, ya curados para analítica.</a:t>
            </a:r>
          </a:p>
          <a:p>
            <a:pPr>
              <a:spcAft>
                <a:spcPts val="700"/>
              </a:spcAft>
            </a:pPr>
            <a:r>
              <a:rPr lang="es-CO" sz="1300" noProof="0" dirty="0">
                <a:solidFill>
                  <a:srgbClr val="1F2937"/>
                </a:solidFill>
                <a:latin typeface="Aptos"/>
              </a:rPr>
              <a:t>- Se limpian a 1.86M prestamos y 110 columnas.</a:t>
            </a:r>
          </a:p>
          <a:p>
            <a:pPr>
              <a:spcAft>
                <a:spcPts val="700"/>
              </a:spcAft>
            </a:pPr>
            <a:r>
              <a:rPr lang="es-CO" sz="1300" noProof="0" dirty="0">
                <a:solidFill>
                  <a:srgbClr val="1F2937"/>
                </a:solidFill>
                <a:latin typeface="Aptos"/>
              </a:rPr>
              <a:t>- Luego se separan train, calibration y test de manera temporal para evitar leakage.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697480" y="3529584"/>
            <a:ext cx="3703320" cy="221284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24" name="TextBox 23"/>
          <p:cNvSpPr txBox="1"/>
          <p:nvPr/>
        </p:nvSpPr>
        <p:spPr>
          <a:xfrm>
            <a:off x="2907791" y="3749039"/>
            <a:ext cx="2841655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s-CO" sz="1400" b="1" noProof="0" dirty="0">
                <a:solidFill>
                  <a:srgbClr val="14B8A6"/>
                </a:solidFill>
                <a:latin typeface="Aptos"/>
              </a:rPr>
              <a:t>Por que si sirve para esta tesis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907792" y="4023360"/>
            <a:ext cx="3154680" cy="14721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lang="es-CO" sz="1300" noProof="0" dirty="0">
                <a:solidFill>
                  <a:srgbClr val="1F2937"/>
                </a:solidFill>
                <a:latin typeface="Aptos"/>
              </a:rPr>
              <a:t>- El default rate escala de A=5.6% a G=47.7%.</a:t>
            </a:r>
          </a:p>
          <a:p>
            <a:pPr>
              <a:spcAft>
                <a:spcPts val="700"/>
              </a:spcAft>
            </a:pPr>
            <a:r>
              <a:rPr lang="es-CO" sz="1300" noProof="0" dirty="0">
                <a:solidFill>
                  <a:srgbClr val="1F2937"/>
                </a:solidFill>
                <a:latin typeface="Aptos"/>
              </a:rPr>
              <a:t>- Ese gradiente confirma señal de negocio, no solo volumen.</a:t>
            </a:r>
          </a:p>
          <a:p>
            <a:pPr>
              <a:spcAft>
                <a:spcPts val="700"/>
              </a:spcAft>
            </a:pPr>
            <a:r>
              <a:rPr lang="es-CO" sz="1300" noProof="0" dirty="0">
                <a:solidFill>
                  <a:srgbClr val="1F2937"/>
                </a:solidFill>
                <a:latin typeface="Aptos"/>
              </a:rPr>
              <a:t>- Al ser publico, el proyecto queda replicable y defendible para jurados.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656832" y="1353312"/>
            <a:ext cx="443484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28" name="Rounded Rectangle 27"/>
          <p:cNvSpPr/>
          <p:nvPr/>
        </p:nvSpPr>
        <p:spPr>
          <a:xfrm>
            <a:off x="6656832" y="3529584"/>
            <a:ext cx="4434840" cy="22128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pic>
        <p:nvPicPr>
          <p:cNvPr id="29" name="Picture 28" descr="grade_defaul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39328" y="3721608"/>
            <a:ext cx="2681675" cy="1700838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1843829" y="6437376"/>
            <a:ext cx="5671787" cy="2462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s-CO" sz="1000" b="0" noProof="0" dirty="0">
                <a:solidFill>
                  <a:srgbClr val="64748B"/>
                </a:solidFill>
                <a:latin typeface="Aptos"/>
              </a:rPr>
              <a:t>Splits OOT del proyecto: Train=1.35M | Calibration=238k | Test=277k.</a:t>
            </a:r>
          </a:p>
        </p:txBody>
      </p:sp>
      <p:pic>
        <p:nvPicPr>
          <p:cNvPr id="31" name="Imagen 30">
            <a:extLst>
              <a:ext uri="{FF2B5EF4-FFF2-40B4-BE49-F238E27FC236}">
                <a16:creationId xmlns:a16="http://schemas.microsoft.com/office/drawing/2014/main" id="{00D6AC3B-7D01-D49F-427E-CDB63A04CF85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43" t="29881" r="57618" b="29524"/>
          <a:stretch/>
        </p:blipFill>
        <p:spPr>
          <a:xfrm>
            <a:off x="0" y="0"/>
            <a:ext cx="2953753" cy="568389"/>
          </a:xfrm>
          <a:prstGeom prst="rect">
            <a:avLst/>
          </a:prstGeom>
        </p:spPr>
      </p:pic>
      <p:pic>
        <p:nvPicPr>
          <p:cNvPr id="32" name="Imagen 31">
            <a:extLst>
              <a:ext uri="{FF2B5EF4-FFF2-40B4-BE49-F238E27FC236}">
                <a16:creationId xmlns:a16="http://schemas.microsoft.com/office/drawing/2014/main" id="{6305AD73-AD74-4EED-3152-7B78842C0638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278" b="27496"/>
          <a:stretch/>
        </p:blipFill>
        <p:spPr>
          <a:xfrm>
            <a:off x="9961905" y="-136237"/>
            <a:ext cx="2405838" cy="2339126"/>
          </a:xfrm>
          <a:prstGeom prst="rect">
            <a:avLst/>
          </a:prstGeom>
        </p:spPr>
      </p:pic>
      <p:pic>
        <p:nvPicPr>
          <p:cNvPr id="33" name="Imagen 32">
            <a:extLst>
              <a:ext uri="{FF2B5EF4-FFF2-40B4-BE49-F238E27FC236}">
                <a16:creationId xmlns:a16="http://schemas.microsoft.com/office/drawing/2014/main" id="{BACB8618-ED02-4488-4C1B-F559310D5D30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278" b="27496"/>
          <a:stretch/>
        </p:blipFill>
        <p:spPr>
          <a:xfrm rot="10800000">
            <a:off x="-218093" y="4408396"/>
            <a:ext cx="2684567" cy="2610127"/>
          </a:xfrm>
          <a:prstGeom prst="rect">
            <a:avLst/>
          </a:prstGeom>
        </p:spPr>
      </p:pic>
      <p:pic>
        <p:nvPicPr>
          <p:cNvPr id="35" name="Imagen 34">
            <a:extLst>
              <a:ext uri="{FF2B5EF4-FFF2-40B4-BE49-F238E27FC236}">
                <a16:creationId xmlns:a16="http://schemas.microsoft.com/office/drawing/2014/main" id="{1566A924-84AC-F45B-307E-1C88A891390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39712" y="1371591"/>
            <a:ext cx="3963987" cy="1956963"/>
          </a:xfrm>
          <a:prstGeom prst="rect">
            <a:avLst/>
          </a:prstGeom>
        </p:spPr>
      </p:pic>
      <p:pic>
        <p:nvPicPr>
          <p:cNvPr id="37" name="Imagen 36">
            <a:extLst>
              <a:ext uri="{FF2B5EF4-FFF2-40B4-BE49-F238E27FC236}">
                <a16:creationId xmlns:a16="http://schemas.microsoft.com/office/drawing/2014/main" id="{B7306B28-4302-AC6A-46A7-E83CF23EF30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65975" y="3779868"/>
            <a:ext cx="1445337" cy="1627632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30352" y="725256"/>
            <a:ext cx="164592" cy="53035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4" name="TextBox 3"/>
          <p:cNvSpPr txBox="1"/>
          <p:nvPr/>
        </p:nvSpPr>
        <p:spPr>
          <a:xfrm>
            <a:off x="822960" y="670392"/>
            <a:ext cx="10012680" cy="4308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s-CO" sz="2200" b="1" noProof="0" dirty="0">
                <a:solidFill>
                  <a:srgbClr val="0F172A"/>
                </a:solidFill>
                <a:latin typeface="Aptos Display"/>
              </a:rPr>
              <a:t>CRISP-DM se uso como marco de ejecución, no solo como formalidad documental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078992"/>
            <a:ext cx="1024128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7" name="TextBox 6"/>
          <p:cNvSpPr txBox="1"/>
          <p:nvPr/>
        </p:nvSpPr>
        <p:spPr>
          <a:xfrm flipH="1">
            <a:off x="11837575" y="6437814"/>
            <a:ext cx="440226" cy="2462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s-CO" sz="1000" b="1" noProof="0" dirty="0">
                <a:solidFill>
                  <a:srgbClr val="475569"/>
                </a:solidFill>
                <a:latin typeface="Aptos"/>
              </a:rPr>
              <a:t>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1389888"/>
            <a:ext cx="2615184" cy="1874519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9" name="TextBox 8"/>
          <p:cNvSpPr txBox="1"/>
          <p:nvPr/>
        </p:nvSpPr>
        <p:spPr>
          <a:xfrm>
            <a:off x="996695" y="1517904"/>
            <a:ext cx="2395728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s-CO" sz="1200" b="1" noProof="0" dirty="0">
                <a:solidFill>
                  <a:srgbClr val="0EA5E9"/>
                </a:solidFill>
                <a:latin typeface="Aptos"/>
              </a:rPr>
              <a:t>1. Business Understanding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5" y="1865376"/>
            <a:ext cx="2395728" cy="95410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s-CO" sz="1400" b="0" noProof="0" dirty="0">
                <a:solidFill>
                  <a:srgbClr val="1F2937"/>
                </a:solidFill>
                <a:latin typeface="Aptos"/>
              </a:rPr>
              <a:t>Pasar de ranking a decisión bajo incertidumbre con alcance defendible para especialización.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813048" y="1389888"/>
            <a:ext cx="2615184" cy="1874519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12" name="TextBox 11"/>
          <p:cNvSpPr txBox="1"/>
          <p:nvPr/>
        </p:nvSpPr>
        <p:spPr>
          <a:xfrm>
            <a:off x="3941063" y="1517904"/>
            <a:ext cx="2395728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s-CO" sz="1200" b="1" noProof="0" dirty="0">
                <a:solidFill>
                  <a:srgbClr val="14B8A6"/>
                </a:solidFill>
                <a:latin typeface="Aptos"/>
              </a:rPr>
              <a:t>2. Data Understanding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41063" y="1865376"/>
            <a:ext cx="2395728" cy="7386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s-CO" sz="1400" b="0" noProof="0" dirty="0">
                <a:solidFill>
                  <a:srgbClr val="1F2937"/>
                </a:solidFill>
                <a:latin typeface="Aptos"/>
              </a:rPr>
              <a:t>Validar señal real de riesgo en Lending Club por grade, plazo y faltantes críticos.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757416" y="1389888"/>
            <a:ext cx="2615184" cy="1874519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15" name="TextBox 14"/>
          <p:cNvSpPr txBox="1"/>
          <p:nvPr/>
        </p:nvSpPr>
        <p:spPr>
          <a:xfrm>
            <a:off x="6885431" y="1517904"/>
            <a:ext cx="2395728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s-CO" sz="1200" b="1" noProof="0" dirty="0">
                <a:solidFill>
                  <a:srgbClr val="F97316"/>
                </a:solidFill>
                <a:latin typeface="Aptos"/>
              </a:rPr>
              <a:t>3. Data Preparation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85431" y="1865376"/>
            <a:ext cx="2395728" cy="7386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s-CO" sz="1400" b="0" noProof="0" dirty="0">
                <a:solidFill>
                  <a:srgbClr val="1F2937"/>
                </a:solidFill>
                <a:latin typeface="Aptos"/>
              </a:rPr>
              <a:t>Construir splits temporales OOT, contratos de columnas y controles anti-leakage.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8680" y="3675887"/>
            <a:ext cx="2615184" cy="1874519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18" name="TextBox 17"/>
          <p:cNvSpPr txBox="1"/>
          <p:nvPr/>
        </p:nvSpPr>
        <p:spPr>
          <a:xfrm>
            <a:off x="996695" y="3803903"/>
            <a:ext cx="2395728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s-CO" sz="1200" b="1" noProof="0" dirty="0">
                <a:solidFill>
                  <a:srgbClr val="0EA5E9"/>
                </a:solidFill>
                <a:latin typeface="Aptos"/>
              </a:rPr>
              <a:t>4. Modeling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96695" y="4151375"/>
            <a:ext cx="2395728" cy="95410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s-CO" sz="1400" b="0" noProof="0" dirty="0">
                <a:solidFill>
                  <a:srgbClr val="1F2937"/>
                </a:solidFill>
                <a:latin typeface="Aptos"/>
              </a:rPr>
              <a:t>Entrenar PD calibrada y comparar variantes conformales para PD/LGD/EAD.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813048" y="3675887"/>
            <a:ext cx="2615184" cy="1874519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21" name="TextBox 20"/>
          <p:cNvSpPr txBox="1"/>
          <p:nvPr/>
        </p:nvSpPr>
        <p:spPr>
          <a:xfrm>
            <a:off x="3941063" y="3803903"/>
            <a:ext cx="2395728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s-CO" sz="1200" b="1" noProof="0" dirty="0">
                <a:solidFill>
                  <a:srgbClr val="14B8A6"/>
                </a:solidFill>
                <a:latin typeface="Aptos"/>
              </a:rPr>
              <a:t>5. Evaluation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41063" y="4151375"/>
            <a:ext cx="2395728" cy="7386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s-CO" sz="1400" b="0" noProof="0" dirty="0">
                <a:solidFill>
                  <a:srgbClr val="1F2937"/>
                </a:solidFill>
                <a:latin typeface="Aptos"/>
              </a:rPr>
              <a:t>Medir AUC, Brier, coverage, estabilidad temporal, fairness e impacto IFRS9.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757416" y="3675887"/>
            <a:ext cx="2615184" cy="1874519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24" name="TextBox 23"/>
          <p:cNvSpPr txBox="1"/>
          <p:nvPr/>
        </p:nvSpPr>
        <p:spPr>
          <a:xfrm>
            <a:off x="6885431" y="3803903"/>
            <a:ext cx="2395728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s-CO" sz="1200" b="1" noProof="0" dirty="0">
                <a:solidFill>
                  <a:srgbClr val="F97316"/>
                </a:solidFill>
                <a:latin typeface="Aptos"/>
              </a:rPr>
              <a:t>6. Deployment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85431" y="4151375"/>
            <a:ext cx="2395728" cy="95410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s-CO" sz="1400" b="0" noProof="0" dirty="0">
                <a:solidFill>
                  <a:srgbClr val="1F2937"/>
                </a:solidFill>
                <a:latin typeface="Aptos"/>
              </a:rPr>
              <a:t>Empaquetar una historia reproducible con runbook y evidencia ejecutable por componente.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555479" y="1389888"/>
            <a:ext cx="2031095" cy="41605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29" name="TextBox 28"/>
          <p:cNvSpPr txBox="1"/>
          <p:nvPr/>
        </p:nvSpPr>
        <p:spPr>
          <a:xfrm>
            <a:off x="9620450" y="2524320"/>
            <a:ext cx="1847128" cy="15696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just"/>
            <a:r>
              <a:rPr lang="es-CO" sz="1600" b="1" u="sng" noProof="0" dirty="0">
                <a:solidFill>
                  <a:srgbClr val="475569"/>
                </a:solidFill>
                <a:latin typeface="Aptos"/>
              </a:rPr>
              <a:t>Resultado global: </a:t>
            </a:r>
            <a:r>
              <a:rPr lang="es-CO" sz="1600" b="1" noProof="0" dirty="0">
                <a:solidFill>
                  <a:srgbClr val="475569"/>
                </a:solidFill>
                <a:latin typeface="Aptos"/>
              </a:rPr>
              <a:t>una tesis trazable de punta a punta, no una colección de experimentos aislados.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113138" y="6437376"/>
            <a:ext cx="7613319" cy="2462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s-CO" sz="1000" b="0" noProof="0" dirty="0">
                <a:solidFill>
                  <a:srgbClr val="64748B"/>
                </a:solidFill>
                <a:latin typeface="Aptos"/>
              </a:rPr>
              <a:t>Lectura extendida de la tabla CRISP-DM</a:t>
            </a:r>
          </a:p>
        </p:txBody>
      </p:sp>
      <p:pic>
        <p:nvPicPr>
          <p:cNvPr id="37" name="Imagen 36">
            <a:extLst>
              <a:ext uri="{FF2B5EF4-FFF2-40B4-BE49-F238E27FC236}">
                <a16:creationId xmlns:a16="http://schemas.microsoft.com/office/drawing/2014/main" id="{43A3E1C5-F233-691A-9ED5-AD1B675B91A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43" t="29881" r="57618" b="29524"/>
          <a:stretch/>
        </p:blipFill>
        <p:spPr>
          <a:xfrm>
            <a:off x="0" y="0"/>
            <a:ext cx="2953753" cy="568389"/>
          </a:xfrm>
          <a:prstGeom prst="rect">
            <a:avLst/>
          </a:prstGeom>
        </p:spPr>
      </p:pic>
      <p:pic>
        <p:nvPicPr>
          <p:cNvPr id="38" name="Imagen 37">
            <a:extLst>
              <a:ext uri="{FF2B5EF4-FFF2-40B4-BE49-F238E27FC236}">
                <a16:creationId xmlns:a16="http://schemas.microsoft.com/office/drawing/2014/main" id="{29EC2857-77DD-E33C-B930-A38179E0B00B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278" b="27496"/>
          <a:stretch/>
        </p:blipFill>
        <p:spPr>
          <a:xfrm>
            <a:off x="9961905" y="-90571"/>
            <a:ext cx="2405838" cy="2339126"/>
          </a:xfrm>
          <a:prstGeom prst="rect">
            <a:avLst/>
          </a:prstGeom>
        </p:spPr>
      </p:pic>
      <p:pic>
        <p:nvPicPr>
          <p:cNvPr id="39" name="Imagen 38">
            <a:extLst>
              <a:ext uri="{FF2B5EF4-FFF2-40B4-BE49-F238E27FC236}">
                <a16:creationId xmlns:a16="http://schemas.microsoft.com/office/drawing/2014/main" id="{53ECAEC4-819F-03C8-2888-DB01EE13A986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278" b="27496"/>
          <a:stretch/>
        </p:blipFill>
        <p:spPr>
          <a:xfrm rot="10800000">
            <a:off x="-218093" y="4408396"/>
            <a:ext cx="2684567" cy="2610127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30352" y="812938"/>
            <a:ext cx="164592" cy="53035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4" name="TextBox 3"/>
          <p:cNvSpPr txBox="1"/>
          <p:nvPr/>
        </p:nvSpPr>
        <p:spPr>
          <a:xfrm>
            <a:off x="822960" y="758074"/>
            <a:ext cx="10012680" cy="4308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s-CO" sz="2200" b="1" noProof="0" dirty="0">
                <a:solidFill>
                  <a:srgbClr val="0F172A"/>
                </a:solidFill>
                <a:latin typeface="Aptos Display"/>
              </a:rPr>
              <a:t>PD: la calibración mejora la utilidad probabilística sin perder discriminación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078992"/>
            <a:ext cx="1024128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7" name="TextBox 6"/>
          <p:cNvSpPr txBox="1"/>
          <p:nvPr/>
        </p:nvSpPr>
        <p:spPr>
          <a:xfrm>
            <a:off x="11855384" y="6476485"/>
            <a:ext cx="336616" cy="2462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s-CO" sz="1000" b="1" noProof="0" dirty="0">
                <a:solidFill>
                  <a:srgbClr val="475569"/>
                </a:solidFill>
                <a:latin typeface="Aptos"/>
              </a:rPr>
              <a:t>13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1353312"/>
            <a:ext cx="1554480" cy="8778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9" name="Rectangle 8"/>
          <p:cNvSpPr/>
          <p:nvPr/>
        </p:nvSpPr>
        <p:spPr>
          <a:xfrm>
            <a:off x="868680" y="1353312"/>
            <a:ext cx="73152" cy="877824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10" name="TextBox 9"/>
          <p:cNvSpPr txBox="1"/>
          <p:nvPr/>
        </p:nvSpPr>
        <p:spPr>
          <a:xfrm>
            <a:off x="1014983" y="1444752"/>
            <a:ext cx="13258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s-CO" sz="1100" b="1" noProof="0" dirty="0">
                <a:solidFill>
                  <a:srgbClr val="475569"/>
                </a:solidFill>
                <a:latin typeface="Aptos"/>
              </a:rPr>
              <a:t>AUC OOT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4983" y="1682495"/>
            <a:ext cx="1325880" cy="51206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s-CO" sz="2000" b="1" noProof="0" dirty="0">
                <a:solidFill>
                  <a:srgbClr val="0F172A"/>
                </a:solidFill>
                <a:latin typeface="Aptos"/>
              </a:rPr>
              <a:t>0.715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8680" y="2359152"/>
            <a:ext cx="1554480" cy="8778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13" name="Rectangle 12"/>
          <p:cNvSpPr/>
          <p:nvPr/>
        </p:nvSpPr>
        <p:spPr>
          <a:xfrm>
            <a:off x="868680" y="2359152"/>
            <a:ext cx="73152" cy="877824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14" name="TextBox 13"/>
          <p:cNvSpPr txBox="1"/>
          <p:nvPr/>
        </p:nvSpPr>
        <p:spPr>
          <a:xfrm>
            <a:off x="1014983" y="2450592"/>
            <a:ext cx="13258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s-CO" sz="1100" b="1" noProof="0" dirty="0">
                <a:solidFill>
                  <a:srgbClr val="475569"/>
                </a:solidFill>
                <a:latin typeface="Aptos"/>
              </a:rPr>
              <a:t>Brier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14983" y="2688336"/>
            <a:ext cx="1325880" cy="51206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s-CO" sz="2000" b="1" noProof="0" dirty="0">
                <a:solidFill>
                  <a:srgbClr val="0F172A"/>
                </a:solidFill>
                <a:latin typeface="Aptos"/>
              </a:rPr>
              <a:t>0.154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8680" y="3364992"/>
            <a:ext cx="1554480" cy="8778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17" name="Rectangle 16"/>
          <p:cNvSpPr/>
          <p:nvPr/>
        </p:nvSpPr>
        <p:spPr>
          <a:xfrm>
            <a:off x="868680" y="3364992"/>
            <a:ext cx="73152" cy="877824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18" name="TextBox 17"/>
          <p:cNvSpPr txBox="1"/>
          <p:nvPr/>
        </p:nvSpPr>
        <p:spPr>
          <a:xfrm>
            <a:off x="1014983" y="3456432"/>
            <a:ext cx="13258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s-CO" sz="1100" b="1" noProof="0" dirty="0">
                <a:solidFill>
                  <a:srgbClr val="475569"/>
                </a:solidFill>
                <a:latin typeface="Aptos"/>
              </a:rPr>
              <a:t>Calibrador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4983" y="3694176"/>
            <a:ext cx="1325880" cy="51206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s-CO" sz="2000" b="1" noProof="0" dirty="0">
                <a:solidFill>
                  <a:srgbClr val="0F172A"/>
                </a:solidFill>
                <a:latin typeface="Aptos"/>
              </a:rPr>
              <a:t>Isotonic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651760" y="1353312"/>
            <a:ext cx="5715000" cy="44074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22" name="Rounded Rectangle 21"/>
          <p:cNvSpPr/>
          <p:nvPr/>
        </p:nvSpPr>
        <p:spPr>
          <a:xfrm>
            <a:off x="8595360" y="1353312"/>
            <a:ext cx="2560320" cy="440740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23" name="TextBox 22"/>
          <p:cNvSpPr txBox="1"/>
          <p:nvPr/>
        </p:nvSpPr>
        <p:spPr>
          <a:xfrm>
            <a:off x="8796528" y="1645920"/>
            <a:ext cx="10058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s-CO" sz="1400" b="1" noProof="0" dirty="0">
                <a:solidFill>
                  <a:srgbClr val="0EA5E9"/>
                </a:solidFill>
                <a:latin typeface="Aptos"/>
              </a:rPr>
              <a:t>Lectura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96528" y="1975104"/>
            <a:ext cx="2103120" cy="24263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lang="es-CO" sz="1400" noProof="0" dirty="0">
                <a:solidFill>
                  <a:srgbClr val="1F2937"/>
                </a:solidFill>
                <a:latin typeface="Aptos"/>
              </a:rPr>
              <a:t>- El baseline logístico sirve como piso interpretable.</a:t>
            </a:r>
          </a:p>
          <a:p>
            <a:pPr>
              <a:spcAft>
                <a:spcPts val="700"/>
              </a:spcAft>
            </a:pPr>
            <a:r>
              <a:rPr lang="es-CO" sz="1400" noProof="0" dirty="0">
                <a:solidFill>
                  <a:srgbClr val="1F2937"/>
                </a:solidFill>
                <a:latin typeface="Aptos"/>
              </a:rPr>
              <a:t>- CatBoost tuneado mantiene AUC y mejora calidad probabilística.</a:t>
            </a:r>
          </a:p>
          <a:p>
            <a:pPr>
              <a:spcAft>
                <a:spcPts val="700"/>
              </a:spcAft>
            </a:pPr>
            <a:r>
              <a:rPr lang="es-CO" sz="1400" noProof="0" dirty="0">
                <a:solidFill>
                  <a:srgbClr val="1F2937"/>
                </a:solidFill>
                <a:latin typeface="Aptos"/>
              </a:rPr>
              <a:t>- Eso importa porque en riesgo una PD mal calibrada se convierte en una mala decisión.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96528" y="4590288"/>
            <a:ext cx="1371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s-CO" sz="1300" b="1" noProof="0" dirty="0">
                <a:solidFill>
                  <a:srgbClr val="14B8A6"/>
                </a:solidFill>
                <a:latin typeface="Aptos"/>
              </a:rPr>
              <a:t>Mensaje simple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96528" y="4828032"/>
            <a:ext cx="2103120" cy="83099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s-CO" sz="1200" b="0" noProof="0" dirty="0">
                <a:solidFill>
                  <a:srgbClr val="475569"/>
                </a:solidFill>
                <a:latin typeface="Aptos"/>
              </a:rPr>
              <a:t>Pasamos de score útil para ranking a probabilidad mas útil para originación, pricing y provisiones.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74518" y="6476485"/>
            <a:ext cx="8377407" cy="2462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s-CO" sz="1000" b="0" noProof="0" dirty="0">
                <a:solidFill>
                  <a:srgbClr val="64748B"/>
                </a:solidFill>
                <a:latin typeface="Aptos"/>
              </a:rPr>
              <a:t>Comparativa OOT de PD: baseline logístico vs CatBoost calibrado.</a:t>
            </a:r>
          </a:p>
        </p:txBody>
      </p:sp>
      <p:pic>
        <p:nvPicPr>
          <p:cNvPr id="28" name="Imagen 27">
            <a:extLst>
              <a:ext uri="{FF2B5EF4-FFF2-40B4-BE49-F238E27FC236}">
                <a16:creationId xmlns:a16="http://schemas.microsoft.com/office/drawing/2014/main" id="{892F6B8B-C9C2-DCB8-EC52-2C73B294F0C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43" t="29881" r="57618" b="29524"/>
          <a:stretch/>
        </p:blipFill>
        <p:spPr>
          <a:xfrm>
            <a:off x="0" y="0"/>
            <a:ext cx="2953753" cy="568389"/>
          </a:xfrm>
          <a:prstGeom prst="rect">
            <a:avLst/>
          </a:prstGeom>
        </p:spPr>
      </p:pic>
      <p:pic>
        <p:nvPicPr>
          <p:cNvPr id="29" name="Imagen 28">
            <a:extLst>
              <a:ext uri="{FF2B5EF4-FFF2-40B4-BE49-F238E27FC236}">
                <a16:creationId xmlns:a16="http://schemas.microsoft.com/office/drawing/2014/main" id="{549A62FC-B60E-BD34-2923-D0DED028E3DF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278" b="27496"/>
          <a:stretch/>
        </p:blipFill>
        <p:spPr>
          <a:xfrm>
            <a:off x="9981383" y="-143439"/>
            <a:ext cx="2405838" cy="2339126"/>
          </a:xfrm>
          <a:prstGeom prst="rect">
            <a:avLst/>
          </a:prstGeom>
        </p:spPr>
      </p:pic>
      <p:pic>
        <p:nvPicPr>
          <p:cNvPr id="30" name="Imagen 29">
            <a:extLst>
              <a:ext uri="{FF2B5EF4-FFF2-40B4-BE49-F238E27FC236}">
                <a16:creationId xmlns:a16="http://schemas.microsoft.com/office/drawing/2014/main" id="{641E9086-63F7-ECC5-7121-ADA670741575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278" b="27496"/>
          <a:stretch/>
        </p:blipFill>
        <p:spPr>
          <a:xfrm rot="10800000">
            <a:off x="-218093" y="4408396"/>
            <a:ext cx="2684567" cy="2610127"/>
          </a:xfrm>
          <a:prstGeom prst="rect">
            <a:avLst/>
          </a:prstGeom>
        </p:spPr>
      </p:pic>
      <p:pic>
        <p:nvPicPr>
          <p:cNvPr id="31" name="Imagen 30">
            <a:extLst>
              <a:ext uri="{FF2B5EF4-FFF2-40B4-BE49-F238E27FC236}">
                <a16:creationId xmlns:a16="http://schemas.microsoft.com/office/drawing/2014/main" id="{3BED6A42-CD9B-D470-2931-F55E0CA5F47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90758" y="2231136"/>
            <a:ext cx="2748570" cy="1975103"/>
          </a:xfrm>
          <a:prstGeom prst="rect">
            <a:avLst/>
          </a:prstGeom>
        </p:spPr>
      </p:pic>
      <p:pic>
        <p:nvPicPr>
          <p:cNvPr id="33" name="Imagen 32">
            <a:extLst>
              <a:ext uri="{FF2B5EF4-FFF2-40B4-BE49-F238E27FC236}">
                <a16:creationId xmlns:a16="http://schemas.microsoft.com/office/drawing/2014/main" id="{756FB6C7-A7C6-B463-9117-AF8A28435CF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03148" y="2231136"/>
            <a:ext cx="2748571" cy="1981204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756329"/>
            <a:ext cx="164592" cy="53035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4" name="TextBox 3"/>
          <p:cNvSpPr txBox="1"/>
          <p:nvPr/>
        </p:nvSpPr>
        <p:spPr>
          <a:xfrm>
            <a:off x="749808" y="701465"/>
            <a:ext cx="10012680" cy="4308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s-CO" sz="2200" b="1" noProof="0" dirty="0">
                <a:solidFill>
                  <a:srgbClr val="0F172A"/>
                </a:solidFill>
                <a:latin typeface="Aptos Display"/>
              </a:rPr>
              <a:t>Cobertura objetivo: que significa y como se verifico en el tiempo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078992"/>
            <a:ext cx="1024128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7" name="TextBox 6"/>
          <p:cNvSpPr txBox="1"/>
          <p:nvPr/>
        </p:nvSpPr>
        <p:spPr>
          <a:xfrm>
            <a:off x="11747722" y="6572576"/>
            <a:ext cx="359664" cy="2462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s-CO" sz="1000" b="1" noProof="0" dirty="0">
                <a:solidFill>
                  <a:srgbClr val="475569"/>
                </a:solidFill>
                <a:latin typeface="Aptos"/>
              </a:rPr>
              <a:t>14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1353312"/>
            <a:ext cx="6537960" cy="43708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10" name="Rounded Rectangle 9"/>
          <p:cNvSpPr/>
          <p:nvPr/>
        </p:nvSpPr>
        <p:spPr>
          <a:xfrm>
            <a:off x="7635240" y="1353312"/>
            <a:ext cx="1508760" cy="8778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11" name="Rectangle 10"/>
          <p:cNvSpPr/>
          <p:nvPr/>
        </p:nvSpPr>
        <p:spPr>
          <a:xfrm>
            <a:off x="7635240" y="1353312"/>
            <a:ext cx="73152" cy="877824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12" name="TextBox 11"/>
          <p:cNvSpPr txBox="1"/>
          <p:nvPr/>
        </p:nvSpPr>
        <p:spPr>
          <a:xfrm>
            <a:off x="7781544" y="1444752"/>
            <a:ext cx="12801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s-CO" sz="1100" b="1" noProof="0" dirty="0">
                <a:solidFill>
                  <a:srgbClr val="475569"/>
                </a:solidFill>
                <a:latin typeface="Aptos"/>
              </a:rPr>
              <a:t>Coverage 90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81544" y="1682495"/>
            <a:ext cx="1280160" cy="51206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s-CO" sz="2000" b="1" noProof="0" dirty="0">
                <a:solidFill>
                  <a:srgbClr val="0F172A"/>
                </a:solidFill>
                <a:latin typeface="Aptos"/>
              </a:rPr>
              <a:t>91.37%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253728" y="1353312"/>
            <a:ext cx="1508760" cy="8778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15" name="Rectangle 14"/>
          <p:cNvSpPr/>
          <p:nvPr/>
        </p:nvSpPr>
        <p:spPr>
          <a:xfrm>
            <a:off x="9253728" y="1353312"/>
            <a:ext cx="73152" cy="877824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16" name="TextBox 15"/>
          <p:cNvSpPr txBox="1"/>
          <p:nvPr/>
        </p:nvSpPr>
        <p:spPr>
          <a:xfrm>
            <a:off x="9400032" y="1444752"/>
            <a:ext cx="12801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s-CO" sz="1100" b="1" noProof="0" dirty="0">
                <a:solidFill>
                  <a:srgbClr val="475569"/>
                </a:solidFill>
                <a:latin typeface="Aptos"/>
              </a:rPr>
              <a:t>Coverage 95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00032" y="1682495"/>
            <a:ext cx="1280160" cy="51206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s-CO" sz="2000" b="1" noProof="0" dirty="0">
                <a:solidFill>
                  <a:srgbClr val="0F172A"/>
                </a:solidFill>
                <a:latin typeface="Aptos"/>
              </a:rPr>
              <a:t>94.88%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635240" y="2359152"/>
            <a:ext cx="1508760" cy="8778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19" name="Rectangle 18"/>
          <p:cNvSpPr/>
          <p:nvPr/>
        </p:nvSpPr>
        <p:spPr>
          <a:xfrm>
            <a:off x="7635240" y="2359152"/>
            <a:ext cx="73152" cy="877824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20" name="TextBox 19"/>
          <p:cNvSpPr txBox="1"/>
          <p:nvPr/>
        </p:nvSpPr>
        <p:spPr>
          <a:xfrm>
            <a:off x="7781544" y="2450592"/>
            <a:ext cx="12801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s-CO" sz="1100" b="1" noProof="0" dirty="0">
                <a:solidFill>
                  <a:srgbClr val="475569"/>
                </a:solidFill>
                <a:latin typeface="Aptos"/>
              </a:rPr>
              <a:t>Meses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81544" y="2688336"/>
            <a:ext cx="1280160" cy="51206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s-CO" sz="2000" b="1" noProof="0" dirty="0">
                <a:solidFill>
                  <a:srgbClr val="0F172A"/>
                </a:solidFill>
                <a:latin typeface="Aptos"/>
              </a:rPr>
              <a:t>33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253728" y="2359152"/>
            <a:ext cx="1508760" cy="8778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23" name="Rectangle 22"/>
          <p:cNvSpPr/>
          <p:nvPr/>
        </p:nvSpPr>
        <p:spPr>
          <a:xfrm>
            <a:off x="9253728" y="2359152"/>
            <a:ext cx="73152" cy="87782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24" name="TextBox 23"/>
          <p:cNvSpPr txBox="1"/>
          <p:nvPr/>
        </p:nvSpPr>
        <p:spPr>
          <a:xfrm>
            <a:off x="9400032" y="2450592"/>
            <a:ext cx="12801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s-CO" sz="1100" b="1" noProof="0" dirty="0">
                <a:solidFill>
                  <a:srgbClr val="475569"/>
                </a:solidFill>
                <a:latin typeface="Aptos"/>
              </a:rPr>
              <a:t>Checks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00032" y="2688336"/>
            <a:ext cx="1280160" cy="51206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s-CO" sz="2000" b="1" noProof="0" dirty="0">
                <a:solidFill>
                  <a:srgbClr val="0F172A"/>
                </a:solidFill>
                <a:latin typeface="Aptos"/>
              </a:rPr>
              <a:t>8/13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635240" y="3456432"/>
            <a:ext cx="3127248" cy="226771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27" name="TextBox 26"/>
          <p:cNvSpPr txBox="1"/>
          <p:nvPr/>
        </p:nvSpPr>
        <p:spPr>
          <a:xfrm>
            <a:off x="7845552" y="3528080"/>
            <a:ext cx="210312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s-CO" sz="1400" b="1" noProof="0" dirty="0">
                <a:solidFill>
                  <a:srgbClr val="0EA5E9"/>
                </a:solidFill>
                <a:latin typeface="Aptos"/>
              </a:rPr>
              <a:t>Resultados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08392" y="3829941"/>
            <a:ext cx="2916936" cy="19338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lang="es-CO" sz="1200" noProof="0" dirty="0">
                <a:solidFill>
                  <a:srgbClr val="1F2937"/>
                </a:solidFill>
                <a:latin typeface="Aptos"/>
              </a:rPr>
              <a:t>- A mayor tasa de interés, mayor riesgo (esto es para analizar, ya que la tasa de interés definida puede usar un método de scoring previo)</a:t>
            </a:r>
          </a:p>
          <a:p>
            <a:pPr>
              <a:spcAft>
                <a:spcPts val="700"/>
              </a:spcAft>
            </a:pPr>
            <a:r>
              <a:rPr lang="es-CO" sz="1200" noProof="0" dirty="0">
                <a:solidFill>
                  <a:srgbClr val="1F2937"/>
                </a:solidFill>
                <a:latin typeface="Aptos"/>
              </a:rPr>
              <a:t>- La tasa de interés y el historial crediticio también son de las más importantes</a:t>
            </a:r>
          </a:p>
          <a:p>
            <a:pPr>
              <a:spcAft>
                <a:spcPts val="700"/>
              </a:spcAft>
            </a:pPr>
            <a:r>
              <a:rPr lang="es-CO" sz="1200" noProof="0" dirty="0">
                <a:solidFill>
                  <a:srgbClr val="1F2937"/>
                </a:solidFill>
                <a:latin typeface="Aptos"/>
              </a:rPr>
              <a:t>- Esto permite poder dejar claro cuales son las variables que más influyen en el riesgo.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057400" y="6372852"/>
            <a:ext cx="10698480" cy="2462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s-CO" sz="1000" b="0" noProof="0" dirty="0">
                <a:solidFill>
                  <a:srgbClr val="64748B"/>
                </a:solidFill>
                <a:latin typeface="Aptos"/>
              </a:rPr>
              <a:t>Backtest temporal PD: la cobertura global cumple, aunque siguen advertencias estadísticas abiertas para monitoreo.</a:t>
            </a:r>
          </a:p>
        </p:txBody>
      </p:sp>
      <p:pic>
        <p:nvPicPr>
          <p:cNvPr id="30" name="Imagen 29">
            <a:extLst>
              <a:ext uri="{FF2B5EF4-FFF2-40B4-BE49-F238E27FC236}">
                <a16:creationId xmlns:a16="http://schemas.microsoft.com/office/drawing/2014/main" id="{A490095F-D67A-8FC4-B0EE-0701EA9FDAC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43" t="29881" r="57618" b="29524"/>
          <a:stretch/>
        </p:blipFill>
        <p:spPr>
          <a:xfrm>
            <a:off x="0" y="0"/>
            <a:ext cx="2953753" cy="568389"/>
          </a:xfrm>
          <a:prstGeom prst="rect">
            <a:avLst/>
          </a:prstGeom>
        </p:spPr>
      </p:pic>
      <p:pic>
        <p:nvPicPr>
          <p:cNvPr id="31" name="Imagen 30">
            <a:extLst>
              <a:ext uri="{FF2B5EF4-FFF2-40B4-BE49-F238E27FC236}">
                <a16:creationId xmlns:a16="http://schemas.microsoft.com/office/drawing/2014/main" id="{A0866A81-DB54-8AD7-EB1D-9EC5FE780499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278" b="27496"/>
          <a:stretch/>
        </p:blipFill>
        <p:spPr>
          <a:xfrm>
            <a:off x="9975621" y="-114938"/>
            <a:ext cx="2405838" cy="2339126"/>
          </a:xfrm>
          <a:prstGeom prst="rect">
            <a:avLst/>
          </a:prstGeom>
        </p:spPr>
      </p:pic>
      <p:pic>
        <p:nvPicPr>
          <p:cNvPr id="32" name="Imagen 31">
            <a:extLst>
              <a:ext uri="{FF2B5EF4-FFF2-40B4-BE49-F238E27FC236}">
                <a16:creationId xmlns:a16="http://schemas.microsoft.com/office/drawing/2014/main" id="{C28355D5-4C64-3DAB-2E5D-EDEFA44FFC72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278" b="27496"/>
          <a:stretch/>
        </p:blipFill>
        <p:spPr>
          <a:xfrm rot="10800000">
            <a:off x="-218093" y="4408396"/>
            <a:ext cx="2684567" cy="2610127"/>
          </a:xfrm>
          <a:prstGeom prst="rect">
            <a:avLst/>
          </a:prstGeom>
        </p:spPr>
      </p:pic>
      <p:pic>
        <p:nvPicPr>
          <p:cNvPr id="33" name="Imagen 32">
            <a:extLst>
              <a:ext uri="{FF2B5EF4-FFF2-40B4-BE49-F238E27FC236}">
                <a16:creationId xmlns:a16="http://schemas.microsoft.com/office/drawing/2014/main" id="{2F6EE464-C486-7855-B974-9278D8845C5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7551" y="1964492"/>
            <a:ext cx="6083319" cy="2408831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30352" y="762834"/>
            <a:ext cx="164592" cy="53035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4" name="TextBox 3"/>
          <p:cNvSpPr txBox="1"/>
          <p:nvPr/>
        </p:nvSpPr>
        <p:spPr>
          <a:xfrm>
            <a:off x="822960" y="707970"/>
            <a:ext cx="10012680" cy="8046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s-CO" sz="2200" b="1" noProof="0" dirty="0">
                <a:solidFill>
                  <a:srgbClr val="0F172A"/>
                </a:solidFill>
                <a:latin typeface="Aptos Display"/>
              </a:rPr>
              <a:t>Cobertura por grade: donde la incertidumbre realmente cambia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078992"/>
            <a:ext cx="1024128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7" name="TextBox 6"/>
          <p:cNvSpPr txBox="1"/>
          <p:nvPr/>
        </p:nvSpPr>
        <p:spPr>
          <a:xfrm>
            <a:off x="11803192" y="6441849"/>
            <a:ext cx="388808" cy="2462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s-CO" sz="1000" b="1" noProof="0" dirty="0">
                <a:solidFill>
                  <a:srgbClr val="475569"/>
                </a:solidFill>
                <a:latin typeface="Aptos"/>
              </a:rPr>
              <a:t>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1353312"/>
            <a:ext cx="6537960" cy="44074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10" name="Rounded Rectangle 9"/>
          <p:cNvSpPr/>
          <p:nvPr/>
        </p:nvSpPr>
        <p:spPr>
          <a:xfrm>
            <a:off x="7635240" y="1353312"/>
            <a:ext cx="1508760" cy="8778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11" name="Rectangle 10"/>
          <p:cNvSpPr/>
          <p:nvPr/>
        </p:nvSpPr>
        <p:spPr>
          <a:xfrm>
            <a:off x="7635240" y="1353312"/>
            <a:ext cx="73152" cy="877824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12" name="TextBox 11"/>
          <p:cNvSpPr txBox="1"/>
          <p:nvPr/>
        </p:nvSpPr>
        <p:spPr>
          <a:xfrm>
            <a:off x="7781544" y="1444752"/>
            <a:ext cx="1280160" cy="2616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s-CO" sz="1100" b="1" noProof="0" dirty="0">
                <a:solidFill>
                  <a:srgbClr val="475569"/>
                </a:solidFill>
                <a:latin typeface="Aptos"/>
              </a:rPr>
              <a:t>PD Promedio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81544" y="1682495"/>
            <a:ext cx="1280160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s-CO" sz="2000" b="1" noProof="0" dirty="0">
                <a:solidFill>
                  <a:srgbClr val="0F172A"/>
                </a:solidFill>
                <a:latin typeface="Aptos"/>
              </a:rPr>
              <a:t>0.206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253728" y="1353312"/>
            <a:ext cx="1508760" cy="8778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15" name="Rectangle 14"/>
          <p:cNvSpPr/>
          <p:nvPr/>
        </p:nvSpPr>
        <p:spPr>
          <a:xfrm>
            <a:off x="9253728" y="1353312"/>
            <a:ext cx="73152" cy="877824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16" name="TextBox 15"/>
          <p:cNvSpPr txBox="1"/>
          <p:nvPr/>
        </p:nvSpPr>
        <p:spPr>
          <a:xfrm>
            <a:off x="9400032" y="1444752"/>
            <a:ext cx="12801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s-CO" sz="1100" b="1" noProof="0" dirty="0">
                <a:solidFill>
                  <a:srgbClr val="475569"/>
                </a:solidFill>
                <a:latin typeface="Aptos"/>
              </a:rPr>
              <a:t>Mejor grade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00032" y="1682495"/>
            <a:ext cx="1280160" cy="51206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s-CO" sz="2000" b="1" noProof="0" dirty="0">
                <a:solidFill>
                  <a:srgbClr val="0F172A"/>
                </a:solidFill>
                <a:latin typeface="Aptos"/>
              </a:rPr>
              <a:t>G  93.3%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635240" y="2359152"/>
            <a:ext cx="1508760" cy="8778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19" name="Rectangle 18"/>
          <p:cNvSpPr/>
          <p:nvPr/>
        </p:nvSpPr>
        <p:spPr>
          <a:xfrm>
            <a:off x="7635240" y="2359152"/>
            <a:ext cx="73152" cy="877824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20" name="TextBox 19"/>
          <p:cNvSpPr txBox="1"/>
          <p:nvPr/>
        </p:nvSpPr>
        <p:spPr>
          <a:xfrm>
            <a:off x="7781544" y="2450592"/>
            <a:ext cx="12801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s-CO" sz="1100" b="1" noProof="0" dirty="0">
                <a:solidFill>
                  <a:srgbClr val="475569"/>
                </a:solidFill>
                <a:latin typeface="Aptos"/>
              </a:rPr>
              <a:t>Bajo meta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81544" y="2688336"/>
            <a:ext cx="1280160" cy="51206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s-CO" sz="2000" b="1" noProof="0" dirty="0">
                <a:solidFill>
                  <a:srgbClr val="0F172A"/>
                </a:solidFill>
                <a:latin typeface="Aptos"/>
              </a:rPr>
              <a:t>2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253728" y="2359152"/>
            <a:ext cx="1508760" cy="8778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23" name="Rectangle 22"/>
          <p:cNvSpPr/>
          <p:nvPr/>
        </p:nvSpPr>
        <p:spPr>
          <a:xfrm>
            <a:off x="9253728" y="2359152"/>
            <a:ext cx="73152" cy="877824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24" name="TextBox 23"/>
          <p:cNvSpPr txBox="1"/>
          <p:nvPr/>
        </p:nvSpPr>
        <p:spPr>
          <a:xfrm>
            <a:off x="9400032" y="2450592"/>
            <a:ext cx="12801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s-CO" sz="1100" b="1" noProof="0" dirty="0">
                <a:solidFill>
                  <a:srgbClr val="475569"/>
                </a:solidFill>
                <a:latin typeface="Aptos"/>
              </a:rPr>
              <a:t>Grades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00032" y="2688336"/>
            <a:ext cx="1280160" cy="51206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s-CO" sz="2000" b="1" noProof="0" dirty="0">
                <a:solidFill>
                  <a:srgbClr val="0F172A"/>
                </a:solidFill>
                <a:latin typeface="Aptos"/>
              </a:rPr>
              <a:t>7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635240" y="3456432"/>
            <a:ext cx="3127248" cy="230428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27" name="TextBox 26"/>
          <p:cNvSpPr txBox="1"/>
          <p:nvPr/>
        </p:nvSpPr>
        <p:spPr>
          <a:xfrm>
            <a:off x="7845552" y="3703320"/>
            <a:ext cx="182880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s-CO" sz="1400" b="1" noProof="0" dirty="0">
                <a:solidFill>
                  <a:srgbClr val="0EA5E9"/>
                </a:solidFill>
                <a:latin typeface="Aptos"/>
              </a:rPr>
              <a:t>Por que medirlo así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45552" y="3986784"/>
            <a:ext cx="2560320" cy="15645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lang="es-CO" sz="1200" noProof="0" dirty="0">
                <a:solidFill>
                  <a:srgbClr val="1F2937"/>
                </a:solidFill>
                <a:latin typeface="Aptos"/>
              </a:rPr>
              <a:t>-El riesgo es reservado</a:t>
            </a:r>
          </a:p>
          <a:p>
            <a:pPr>
              <a:spcAft>
                <a:spcPts val="700"/>
              </a:spcAft>
            </a:pPr>
            <a:r>
              <a:rPr lang="es-CO" sz="1200" noProof="0" dirty="0">
                <a:solidFill>
                  <a:srgbClr val="1F2937"/>
                </a:solidFill>
                <a:latin typeface="Aptos"/>
              </a:rPr>
              <a:t>- Si solo miro la cobertura promedio, puedo ocultar fallos en segmentos de alto riesgo.</a:t>
            </a:r>
          </a:p>
          <a:p>
            <a:pPr>
              <a:spcAft>
                <a:spcPts val="700"/>
              </a:spcAft>
            </a:pPr>
            <a:r>
              <a:rPr lang="es-CO" sz="1200" noProof="0" dirty="0">
                <a:solidFill>
                  <a:srgbClr val="1F2937"/>
                </a:solidFill>
                <a:latin typeface="Aptos"/>
              </a:rPr>
              <a:t>- Coverage por grade muestra si la garantía sirve donde mas duele equivocarse.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057400" y="6355080"/>
            <a:ext cx="106984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s-CO" sz="1000" b="0" noProof="0" dirty="0">
                <a:solidFill>
                  <a:srgbClr val="64748B"/>
                </a:solidFill>
                <a:latin typeface="Aptos"/>
              </a:rPr>
              <a:t>Mondrian deja visible la heterogeneidad por segmento; esa es la antesala del contraste con el enfoque global.</a:t>
            </a:r>
          </a:p>
        </p:txBody>
      </p:sp>
      <p:pic>
        <p:nvPicPr>
          <p:cNvPr id="30" name="Imagen 29">
            <a:extLst>
              <a:ext uri="{FF2B5EF4-FFF2-40B4-BE49-F238E27FC236}">
                <a16:creationId xmlns:a16="http://schemas.microsoft.com/office/drawing/2014/main" id="{0BB7E1A9-35B4-D83F-FB77-70399C899D0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43" t="29881" r="57618" b="29524"/>
          <a:stretch/>
        </p:blipFill>
        <p:spPr>
          <a:xfrm>
            <a:off x="0" y="0"/>
            <a:ext cx="2953753" cy="568389"/>
          </a:xfrm>
          <a:prstGeom prst="rect">
            <a:avLst/>
          </a:prstGeom>
        </p:spPr>
      </p:pic>
      <p:pic>
        <p:nvPicPr>
          <p:cNvPr id="31" name="Imagen 30">
            <a:extLst>
              <a:ext uri="{FF2B5EF4-FFF2-40B4-BE49-F238E27FC236}">
                <a16:creationId xmlns:a16="http://schemas.microsoft.com/office/drawing/2014/main" id="{7220F1B7-8727-A981-782B-059F309C34D5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278" b="27496"/>
          <a:stretch/>
        </p:blipFill>
        <p:spPr>
          <a:xfrm>
            <a:off x="9934473" y="-95641"/>
            <a:ext cx="2405838" cy="2339126"/>
          </a:xfrm>
          <a:prstGeom prst="rect">
            <a:avLst/>
          </a:prstGeom>
        </p:spPr>
      </p:pic>
      <p:pic>
        <p:nvPicPr>
          <p:cNvPr id="32" name="Imagen 31">
            <a:extLst>
              <a:ext uri="{FF2B5EF4-FFF2-40B4-BE49-F238E27FC236}">
                <a16:creationId xmlns:a16="http://schemas.microsoft.com/office/drawing/2014/main" id="{F6AB5DF2-B59E-17E6-F259-BAD3C663E4D7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278" b="27496"/>
          <a:stretch/>
        </p:blipFill>
        <p:spPr>
          <a:xfrm rot="10800000">
            <a:off x="-218093" y="4408396"/>
            <a:ext cx="2684567" cy="2610127"/>
          </a:xfrm>
          <a:prstGeom prst="rect">
            <a:avLst/>
          </a:prstGeom>
        </p:spPr>
      </p:pic>
      <p:pic>
        <p:nvPicPr>
          <p:cNvPr id="33" name="Imagen 32">
            <a:extLst>
              <a:ext uri="{FF2B5EF4-FFF2-40B4-BE49-F238E27FC236}">
                <a16:creationId xmlns:a16="http://schemas.microsoft.com/office/drawing/2014/main" id="{2EE86DDE-C78A-5D8E-786D-9D994821C63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2249" y="2316253"/>
            <a:ext cx="6326763" cy="2108921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30352" y="712730"/>
            <a:ext cx="164592" cy="53035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4" name="TextBox 3"/>
          <p:cNvSpPr txBox="1"/>
          <p:nvPr/>
        </p:nvSpPr>
        <p:spPr>
          <a:xfrm>
            <a:off x="822960" y="657866"/>
            <a:ext cx="10012680" cy="8046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s-CO" sz="2200" b="1" noProof="0" dirty="0">
                <a:solidFill>
                  <a:srgbClr val="0F172A"/>
                </a:solidFill>
                <a:latin typeface="Aptos Display"/>
              </a:rPr>
              <a:t>Global split vs Mondrian: diferencia y utilidad en este proyecto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078992"/>
            <a:ext cx="1024128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7" name="TextBox 6"/>
          <p:cNvSpPr txBox="1"/>
          <p:nvPr/>
        </p:nvSpPr>
        <p:spPr>
          <a:xfrm>
            <a:off x="11876772" y="6513281"/>
            <a:ext cx="363756" cy="2462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s-CO" sz="1000" b="1" noProof="0" dirty="0">
                <a:solidFill>
                  <a:srgbClr val="475569"/>
                </a:solidFill>
                <a:latin typeface="Aptos"/>
              </a:rPr>
              <a:t>16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1353312"/>
            <a:ext cx="6446520" cy="44074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pic>
        <p:nvPicPr>
          <p:cNvPr id="9" name="Picture 8" descr="mondrian_vs_glob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415" y="1682496"/>
            <a:ext cx="6080760" cy="3730752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7543800" y="1353312"/>
            <a:ext cx="3611880" cy="190195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11" name="TextBox 10"/>
          <p:cNvSpPr txBox="1"/>
          <p:nvPr/>
        </p:nvSpPr>
        <p:spPr>
          <a:xfrm>
            <a:off x="7754112" y="1609344"/>
            <a:ext cx="2479652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s-CO" sz="1400" b="1" noProof="0" dirty="0">
                <a:solidFill>
                  <a:srgbClr val="F97316"/>
                </a:solidFill>
                <a:latin typeface="Aptos"/>
              </a:rPr>
              <a:t>Tradicional / global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54112" y="1883664"/>
            <a:ext cx="2880360" cy="1379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lang="es-CO" sz="1200" noProof="0" dirty="0">
                <a:solidFill>
                  <a:srgbClr val="1F2937"/>
                </a:solidFill>
                <a:latin typeface="Aptos"/>
              </a:rPr>
              <a:t>- Sirve como baseline simple y rápido.</a:t>
            </a:r>
          </a:p>
          <a:p>
            <a:pPr>
              <a:spcAft>
                <a:spcPts val="700"/>
              </a:spcAft>
            </a:pPr>
            <a:r>
              <a:rPr lang="es-CO" sz="1200" noProof="0" dirty="0">
                <a:solidFill>
                  <a:srgbClr val="1F2937"/>
                </a:solidFill>
                <a:latin typeface="Aptos"/>
              </a:rPr>
              <a:t>- Da una garantía promedio del portafolio.</a:t>
            </a:r>
          </a:p>
          <a:p>
            <a:pPr>
              <a:spcAft>
                <a:spcPts val="700"/>
              </a:spcAft>
            </a:pPr>
            <a:r>
              <a:rPr lang="es-CO" sz="1200" noProof="0" dirty="0">
                <a:solidFill>
                  <a:srgbClr val="1F2937"/>
                </a:solidFill>
                <a:latin typeface="Aptos"/>
              </a:rPr>
              <a:t>- Problema: puede dejar grades pequeños o riesgosos muy mal cubiertos.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543800" y="3456432"/>
            <a:ext cx="3611880" cy="2304288"/>
          </a:xfrm>
          <a:prstGeom prst="roundRect">
            <a:avLst/>
          </a:prstGeom>
          <a:solidFill>
            <a:srgbClr val="F0FDFA"/>
          </a:solidFill>
          <a:ln w="12700">
            <a:solidFill>
              <a:srgbClr val="5EEA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14" name="TextBox 13"/>
          <p:cNvSpPr txBox="1"/>
          <p:nvPr/>
        </p:nvSpPr>
        <p:spPr>
          <a:xfrm>
            <a:off x="7754112" y="3703320"/>
            <a:ext cx="1595628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s-CO" sz="1400" b="1" noProof="0" dirty="0">
                <a:solidFill>
                  <a:srgbClr val="14B8A6"/>
                </a:solidFill>
                <a:latin typeface="Aptos"/>
              </a:rPr>
              <a:t>Mondrian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54112" y="3986784"/>
            <a:ext cx="2880360" cy="1379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lang="es-CO" sz="1200" noProof="0" dirty="0">
                <a:solidFill>
                  <a:srgbClr val="1F2937"/>
                </a:solidFill>
                <a:latin typeface="Aptos"/>
              </a:rPr>
              <a:t>- Calcula el cuantil por grade, no solo una vez para todo el portafolio.</a:t>
            </a:r>
          </a:p>
          <a:p>
            <a:pPr>
              <a:spcAft>
                <a:spcPts val="700"/>
              </a:spcAft>
            </a:pPr>
            <a:r>
              <a:rPr lang="es-CO" sz="1200" noProof="0" dirty="0">
                <a:solidFill>
                  <a:srgbClr val="1F2937"/>
                </a:solidFill>
                <a:latin typeface="Aptos"/>
              </a:rPr>
              <a:t>- Min group coverage sube de 58.6% a 88.3%.</a:t>
            </a:r>
          </a:p>
          <a:p>
            <a:pPr>
              <a:spcAft>
                <a:spcPts val="700"/>
              </a:spcAft>
            </a:pPr>
            <a:r>
              <a:rPr lang="es-CO" sz="1200" noProof="0" dirty="0">
                <a:solidFill>
                  <a:srgbClr val="1F2937"/>
                </a:solidFill>
                <a:latin typeface="Aptos"/>
              </a:rPr>
              <a:t>- Además, el ancho promedio baja de 0.955 a 0.788.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42415" y="6437376"/>
            <a:ext cx="10698480" cy="2462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s-CO" sz="1000" b="0" noProof="0" dirty="0">
                <a:solidFill>
                  <a:srgbClr val="64748B"/>
                </a:solidFill>
                <a:latin typeface="Aptos"/>
              </a:rPr>
              <a:t>Utilidad practica: global para benchmark y sanity check; Mondrian para una garantía operativa por segmento en un portafolio desbalanceado.</a:t>
            </a:r>
          </a:p>
        </p:txBody>
      </p:sp>
      <p:pic>
        <p:nvPicPr>
          <p:cNvPr id="17" name="Imagen 16">
            <a:extLst>
              <a:ext uri="{FF2B5EF4-FFF2-40B4-BE49-F238E27FC236}">
                <a16:creationId xmlns:a16="http://schemas.microsoft.com/office/drawing/2014/main" id="{9D44BC62-7DDF-AA8E-B064-A3B91D79E049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43" t="29881" r="57618" b="29524"/>
          <a:stretch/>
        </p:blipFill>
        <p:spPr>
          <a:xfrm>
            <a:off x="0" y="0"/>
            <a:ext cx="2953753" cy="568389"/>
          </a:xfrm>
          <a:prstGeom prst="rect">
            <a:avLst/>
          </a:prstGeom>
        </p:spPr>
      </p:pic>
      <p:pic>
        <p:nvPicPr>
          <p:cNvPr id="18" name="Imagen 17">
            <a:extLst>
              <a:ext uri="{FF2B5EF4-FFF2-40B4-BE49-F238E27FC236}">
                <a16:creationId xmlns:a16="http://schemas.microsoft.com/office/drawing/2014/main" id="{436AA605-097E-82A1-ACB0-8E5C89EBE0D6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278" b="27496"/>
          <a:stretch/>
        </p:blipFill>
        <p:spPr>
          <a:xfrm>
            <a:off x="9989337" y="-151177"/>
            <a:ext cx="2405838" cy="2339126"/>
          </a:xfrm>
          <a:prstGeom prst="rect">
            <a:avLst/>
          </a:prstGeom>
        </p:spPr>
      </p:pic>
      <p:pic>
        <p:nvPicPr>
          <p:cNvPr id="19" name="Imagen 18">
            <a:extLst>
              <a:ext uri="{FF2B5EF4-FFF2-40B4-BE49-F238E27FC236}">
                <a16:creationId xmlns:a16="http://schemas.microsoft.com/office/drawing/2014/main" id="{026B1C5D-3715-07E2-AF9B-3B6F765A547C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278" b="27496"/>
          <a:stretch/>
        </p:blipFill>
        <p:spPr>
          <a:xfrm rot="10800000">
            <a:off x="-218093" y="4408396"/>
            <a:ext cx="2684567" cy="2610127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30352" y="762834"/>
            <a:ext cx="164592" cy="53035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4" name="TextBox 3"/>
          <p:cNvSpPr txBox="1"/>
          <p:nvPr/>
        </p:nvSpPr>
        <p:spPr>
          <a:xfrm>
            <a:off x="822960" y="707970"/>
            <a:ext cx="10012680" cy="8046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s-CO" sz="2200" b="1" noProof="0" dirty="0">
                <a:solidFill>
                  <a:srgbClr val="0F172A"/>
                </a:solidFill>
                <a:latin typeface="Aptos Display"/>
              </a:rPr>
              <a:t>LGD y EAD: la triada PD-LGD-EAD ya tiene evidencia ejecutable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078992"/>
            <a:ext cx="1024128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7" name="TextBox 6"/>
          <p:cNvSpPr txBox="1"/>
          <p:nvPr/>
        </p:nvSpPr>
        <p:spPr>
          <a:xfrm>
            <a:off x="11894632" y="6520141"/>
            <a:ext cx="338704" cy="2462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s-CO" sz="1000" b="1" noProof="0" dirty="0">
                <a:solidFill>
                  <a:srgbClr val="475569"/>
                </a:solidFill>
                <a:latin typeface="Aptos"/>
              </a:rPr>
              <a:t>17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1353312"/>
            <a:ext cx="1600200" cy="8778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9" name="Rectangle 8"/>
          <p:cNvSpPr/>
          <p:nvPr/>
        </p:nvSpPr>
        <p:spPr>
          <a:xfrm>
            <a:off x="868680" y="1353312"/>
            <a:ext cx="73152" cy="877824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10" name="TextBox 9"/>
          <p:cNvSpPr txBox="1"/>
          <p:nvPr/>
        </p:nvSpPr>
        <p:spPr>
          <a:xfrm>
            <a:off x="1014983" y="1444752"/>
            <a:ext cx="13716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s-CO" sz="1100" b="1" noProof="0" dirty="0">
                <a:solidFill>
                  <a:srgbClr val="475569"/>
                </a:solidFill>
                <a:latin typeface="Aptos"/>
              </a:rPr>
              <a:t>Train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4983" y="1682495"/>
            <a:ext cx="1371600" cy="51206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s-CO" sz="2000" b="1" noProof="0" dirty="0">
                <a:solidFill>
                  <a:srgbClr val="0F172A"/>
                </a:solidFill>
                <a:latin typeface="Aptos"/>
              </a:rPr>
              <a:t>249k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8680" y="2359152"/>
            <a:ext cx="1600200" cy="8778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13" name="Rectangle 12"/>
          <p:cNvSpPr/>
          <p:nvPr/>
        </p:nvSpPr>
        <p:spPr>
          <a:xfrm>
            <a:off x="868680" y="2359152"/>
            <a:ext cx="73152" cy="877824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14" name="TextBox 13"/>
          <p:cNvSpPr txBox="1"/>
          <p:nvPr/>
        </p:nvSpPr>
        <p:spPr>
          <a:xfrm>
            <a:off x="1014983" y="2450592"/>
            <a:ext cx="13716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s-CO" sz="1100" b="1" noProof="0" dirty="0">
                <a:solidFill>
                  <a:srgbClr val="475569"/>
                </a:solidFill>
                <a:latin typeface="Aptos"/>
              </a:rPr>
              <a:t>Calibration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14983" y="2688336"/>
            <a:ext cx="1371600" cy="51206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s-CO" sz="2000" b="1" noProof="0" dirty="0">
                <a:solidFill>
                  <a:srgbClr val="0F172A"/>
                </a:solidFill>
                <a:latin typeface="Aptos"/>
              </a:rPr>
              <a:t>53k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8680" y="3364992"/>
            <a:ext cx="1600200" cy="8778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17" name="Rectangle 16"/>
          <p:cNvSpPr/>
          <p:nvPr/>
        </p:nvSpPr>
        <p:spPr>
          <a:xfrm>
            <a:off x="868680" y="3364992"/>
            <a:ext cx="73152" cy="877824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18" name="TextBox 17"/>
          <p:cNvSpPr txBox="1"/>
          <p:nvPr/>
        </p:nvSpPr>
        <p:spPr>
          <a:xfrm>
            <a:off x="1014983" y="3456432"/>
            <a:ext cx="13716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s-CO" sz="1100" b="1" noProof="0" dirty="0">
                <a:solidFill>
                  <a:srgbClr val="475569"/>
                </a:solidFill>
                <a:latin typeface="Aptos"/>
              </a:rPr>
              <a:t>Test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4983" y="3694176"/>
            <a:ext cx="1371600" cy="51206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s-CO" sz="2000" b="1" noProof="0" dirty="0">
                <a:solidFill>
                  <a:srgbClr val="0F172A"/>
                </a:solidFill>
                <a:latin typeface="Aptos"/>
              </a:rPr>
              <a:t>61k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697480" y="1353312"/>
            <a:ext cx="5623560" cy="44074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pic>
        <p:nvPicPr>
          <p:cNvPr id="21" name="Picture 20" descr="lgd_e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0360" y="1682496"/>
            <a:ext cx="5257800" cy="3730752"/>
          </a:xfrm>
          <a:prstGeom prst="rect">
            <a:avLst/>
          </a:prstGeom>
        </p:spPr>
      </p:pic>
      <p:sp>
        <p:nvSpPr>
          <p:cNvPr id="22" name="Rounded Rectangle 21"/>
          <p:cNvSpPr/>
          <p:nvPr/>
        </p:nvSpPr>
        <p:spPr>
          <a:xfrm>
            <a:off x="8549640" y="1353312"/>
            <a:ext cx="2606040" cy="440740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23" name="TextBox 22"/>
          <p:cNvSpPr txBox="1"/>
          <p:nvPr/>
        </p:nvSpPr>
        <p:spPr>
          <a:xfrm>
            <a:off x="8759952" y="1627632"/>
            <a:ext cx="914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s-CO" sz="1400" b="1" noProof="0" dirty="0">
                <a:solidFill>
                  <a:srgbClr val="0EA5E9"/>
                </a:solidFill>
                <a:latin typeface="Aptos"/>
              </a:rPr>
              <a:t>Lectura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59952" y="1938528"/>
            <a:ext cx="2148840" cy="21185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lang="es-CO" sz="1200" noProof="0" dirty="0">
                <a:solidFill>
                  <a:srgbClr val="1F2937"/>
                </a:solidFill>
                <a:latin typeface="Aptos"/>
              </a:rPr>
              <a:t>- Se probaron 4 variantes LGD; la seleccionada fue direct_adaptive_grade_temporal.</a:t>
            </a:r>
          </a:p>
          <a:p>
            <a:pPr>
              <a:spcAft>
                <a:spcPts val="700"/>
              </a:spcAft>
            </a:pPr>
            <a:r>
              <a:rPr lang="es-CO" sz="1200" noProof="0" dirty="0">
                <a:solidFill>
                  <a:srgbClr val="1F2937"/>
                </a:solidFill>
                <a:latin typeface="Aptos"/>
              </a:rPr>
              <a:t>- Solo la variante adaptive grade-temporal paso coverage, min grade y sesgo.</a:t>
            </a:r>
          </a:p>
          <a:p>
            <a:pPr>
              <a:spcAft>
                <a:spcPts val="700"/>
              </a:spcAft>
            </a:pPr>
            <a:r>
              <a:rPr lang="es-CO" sz="1200" noProof="0" dirty="0">
                <a:solidFill>
                  <a:srgbClr val="1F2937"/>
                </a:solidFill>
                <a:latin typeface="Aptos"/>
              </a:rPr>
              <a:t>- EAD también cumple: 90.82% al 90% y 95.28% al 95%.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0" y="4506289"/>
            <a:ext cx="21488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s-CO" sz="1200" b="1" noProof="0" dirty="0">
                <a:solidFill>
                  <a:srgbClr val="475569"/>
                </a:solidFill>
                <a:latin typeface="Aptos"/>
              </a:rPr>
              <a:t>Mensaje simple: el proyecto ya no habla solo de PD; puede contar la triada completa con evidencia real.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668780" y="6492240"/>
            <a:ext cx="8533669" cy="2462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s-CO" sz="1000" b="0" noProof="0" dirty="0">
                <a:solidFill>
                  <a:srgbClr val="64748B"/>
                </a:solidFill>
                <a:latin typeface="Aptos"/>
              </a:rPr>
              <a:t>LGD/EAD sobre subset defaults-only, con benchmark de variantes y selección por guardrails.</a:t>
            </a:r>
          </a:p>
        </p:txBody>
      </p:sp>
      <p:pic>
        <p:nvPicPr>
          <p:cNvPr id="27" name="Imagen 26">
            <a:extLst>
              <a:ext uri="{FF2B5EF4-FFF2-40B4-BE49-F238E27FC236}">
                <a16:creationId xmlns:a16="http://schemas.microsoft.com/office/drawing/2014/main" id="{CF55DDC4-27E6-EDAC-BE0B-19396D5053E7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43" t="29881" r="57618" b="29524"/>
          <a:stretch/>
        </p:blipFill>
        <p:spPr>
          <a:xfrm>
            <a:off x="0" y="0"/>
            <a:ext cx="2953753" cy="568389"/>
          </a:xfrm>
          <a:prstGeom prst="rect">
            <a:avLst/>
          </a:prstGeom>
        </p:spPr>
      </p:pic>
      <p:pic>
        <p:nvPicPr>
          <p:cNvPr id="28" name="Imagen 27">
            <a:extLst>
              <a:ext uri="{FF2B5EF4-FFF2-40B4-BE49-F238E27FC236}">
                <a16:creationId xmlns:a16="http://schemas.microsoft.com/office/drawing/2014/main" id="{D19710B9-5EBD-6E7C-B04C-D5DFD8B99890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278" b="27496"/>
          <a:stretch/>
        </p:blipFill>
        <p:spPr>
          <a:xfrm>
            <a:off x="9989337" y="-141553"/>
            <a:ext cx="2405838" cy="2339126"/>
          </a:xfrm>
          <a:prstGeom prst="rect">
            <a:avLst/>
          </a:prstGeom>
        </p:spPr>
      </p:pic>
      <p:pic>
        <p:nvPicPr>
          <p:cNvPr id="29" name="Imagen 28">
            <a:extLst>
              <a:ext uri="{FF2B5EF4-FFF2-40B4-BE49-F238E27FC236}">
                <a16:creationId xmlns:a16="http://schemas.microsoft.com/office/drawing/2014/main" id="{DC214471-0E2D-3EE6-DF03-65ABD732DA96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278" b="27496"/>
          <a:stretch/>
        </p:blipFill>
        <p:spPr>
          <a:xfrm rot="10800000">
            <a:off x="-218093" y="4408396"/>
            <a:ext cx="2684567" cy="2610127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30352" y="781623"/>
            <a:ext cx="164592" cy="53035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4" name="TextBox 3"/>
          <p:cNvSpPr txBox="1"/>
          <p:nvPr/>
        </p:nvSpPr>
        <p:spPr>
          <a:xfrm>
            <a:off x="822960" y="726759"/>
            <a:ext cx="10012680" cy="8046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s-CO" sz="2200" b="1" noProof="0" dirty="0">
                <a:solidFill>
                  <a:srgbClr val="0F172A"/>
                </a:solidFill>
                <a:latin typeface="Aptos Display"/>
              </a:rPr>
              <a:t>IFRS9: la incertidumbre si cambia la lectura de provisiones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078992"/>
            <a:ext cx="1024128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7" name="TextBox 6"/>
          <p:cNvSpPr txBox="1"/>
          <p:nvPr/>
        </p:nvSpPr>
        <p:spPr>
          <a:xfrm>
            <a:off x="11916825" y="6621913"/>
            <a:ext cx="332441" cy="2462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s-CO" sz="1000" b="1" noProof="0" dirty="0">
                <a:solidFill>
                  <a:srgbClr val="475569"/>
                </a:solidFill>
                <a:latin typeface="Aptos"/>
              </a:rPr>
              <a:t>18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1353312"/>
            <a:ext cx="1737360" cy="8778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9" name="Rectangle 8"/>
          <p:cNvSpPr/>
          <p:nvPr/>
        </p:nvSpPr>
        <p:spPr>
          <a:xfrm>
            <a:off x="868680" y="1353312"/>
            <a:ext cx="73152" cy="877824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10" name="TextBox 9"/>
          <p:cNvSpPr txBox="1"/>
          <p:nvPr/>
        </p:nvSpPr>
        <p:spPr>
          <a:xfrm>
            <a:off x="1014983" y="1444752"/>
            <a:ext cx="15087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s-CO" sz="1100" b="1" noProof="0" dirty="0">
                <a:solidFill>
                  <a:srgbClr val="475569"/>
                </a:solidFill>
                <a:latin typeface="Aptos"/>
              </a:rPr>
              <a:t>Baseline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4983" y="1682495"/>
            <a:ext cx="1508760" cy="51206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s-CO" sz="2000" b="1" noProof="0" dirty="0">
                <a:solidFill>
                  <a:srgbClr val="0F172A"/>
                </a:solidFill>
                <a:latin typeface="Aptos"/>
              </a:rPr>
              <a:t>0.97B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8680" y="2359152"/>
            <a:ext cx="1737360" cy="8778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13" name="Rectangle 12"/>
          <p:cNvSpPr/>
          <p:nvPr/>
        </p:nvSpPr>
        <p:spPr>
          <a:xfrm>
            <a:off x="868680" y="2359152"/>
            <a:ext cx="73152" cy="877824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14" name="TextBox 13"/>
          <p:cNvSpPr txBox="1"/>
          <p:nvPr/>
        </p:nvSpPr>
        <p:spPr>
          <a:xfrm>
            <a:off x="1014983" y="2450592"/>
            <a:ext cx="15087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s-CO" sz="1100" b="1" noProof="0" dirty="0">
                <a:solidFill>
                  <a:srgbClr val="475569"/>
                </a:solidFill>
                <a:latin typeface="Aptos"/>
              </a:rPr>
              <a:t>Severe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14983" y="2688336"/>
            <a:ext cx="1508760" cy="51206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s-CO" sz="2000" b="1" noProof="0" dirty="0">
                <a:solidFill>
                  <a:srgbClr val="0F172A"/>
                </a:solidFill>
                <a:latin typeface="Aptos"/>
              </a:rPr>
              <a:t>1.78B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8680" y="3364992"/>
            <a:ext cx="1737360" cy="8778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17" name="Rectangle 16"/>
          <p:cNvSpPr/>
          <p:nvPr/>
        </p:nvSpPr>
        <p:spPr>
          <a:xfrm>
            <a:off x="868680" y="3364992"/>
            <a:ext cx="73152" cy="877824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18" name="TextBox 17"/>
          <p:cNvSpPr txBox="1"/>
          <p:nvPr/>
        </p:nvSpPr>
        <p:spPr>
          <a:xfrm>
            <a:off x="1014983" y="3456432"/>
            <a:ext cx="15087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s-CO" sz="1100" b="1" noProof="0" dirty="0">
                <a:solidFill>
                  <a:srgbClr val="475569"/>
                </a:solidFill>
                <a:latin typeface="Aptos"/>
              </a:rPr>
              <a:t>Uplift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4983" y="3694176"/>
            <a:ext cx="1508760" cy="51206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s-CO" sz="2000" b="1" noProof="0" dirty="0">
                <a:solidFill>
                  <a:srgbClr val="0F172A"/>
                </a:solidFill>
                <a:latin typeface="Aptos"/>
              </a:rPr>
              <a:t>+83%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834640" y="1353312"/>
            <a:ext cx="5257800" cy="44074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pic>
        <p:nvPicPr>
          <p:cNvPr id="21" name="Picture 20" descr="ifrs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63240" y="1719072"/>
            <a:ext cx="4800600" cy="3657600"/>
          </a:xfrm>
          <a:prstGeom prst="rect">
            <a:avLst/>
          </a:prstGeom>
        </p:spPr>
      </p:pic>
      <p:sp>
        <p:nvSpPr>
          <p:cNvPr id="22" name="Rounded Rectangle 21"/>
          <p:cNvSpPr/>
          <p:nvPr/>
        </p:nvSpPr>
        <p:spPr>
          <a:xfrm>
            <a:off x="8366760" y="1353312"/>
            <a:ext cx="2788920" cy="440740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23" name="TextBox 22"/>
          <p:cNvSpPr txBox="1"/>
          <p:nvPr/>
        </p:nvSpPr>
        <p:spPr>
          <a:xfrm>
            <a:off x="8577072" y="1627632"/>
            <a:ext cx="201168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s-CO" sz="1400" b="1" noProof="0" dirty="0">
                <a:solidFill>
                  <a:srgbClr val="0EA5E9"/>
                </a:solidFill>
                <a:latin typeface="Aptos"/>
              </a:rPr>
              <a:t>Lo importante aquí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77072" y="2148840"/>
            <a:ext cx="2331720" cy="20723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lang="es-CO" sz="1300" noProof="0" dirty="0">
                <a:solidFill>
                  <a:srgbClr val="1F2937"/>
                </a:solidFill>
                <a:latin typeface="Aptos"/>
              </a:rPr>
              <a:t>- La tesis no se queda en métricas de machine learning.</a:t>
            </a:r>
          </a:p>
          <a:p>
            <a:pPr>
              <a:spcAft>
                <a:spcPts val="700"/>
              </a:spcAft>
            </a:pPr>
            <a:r>
              <a:rPr lang="es-CO" sz="1300" noProof="0" dirty="0">
                <a:solidFill>
                  <a:srgbClr val="1F2937"/>
                </a:solidFill>
                <a:latin typeface="Aptos"/>
              </a:rPr>
              <a:t>- La incertidumbre llega hasta una lectura financiera concreta: provisiones.</a:t>
            </a:r>
          </a:p>
          <a:p>
            <a:pPr>
              <a:spcAft>
                <a:spcPts val="700"/>
              </a:spcAft>
            </a:pPr>
            <a:r>
              <a:rPr lang="es-CO" sz="1300" noProof="0" dirty="0">
                <a:solidFill>
                  <a:srgbClr val="1F2937"/>
                </a:solidFill>
                <a:latin typeface="Aptos"/>
              </a:rPr>
              <a:t>- Ese salto es clave para hablarle a negocio y no solo a científicos de datos.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77071" y="4261104"/>
            <a:ext cx="1487591" cy="2923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s-CO" sz="1300" b="1" noProof="0" dirty="0">
                <a:solidFill>
                  <a:srgbClr val="14B8A6"/>
                </a:solidFill>
                <a:latin typeface="Aptos"/>
              </a:rPr>
              <a:t>Stages baseline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77072" y="4863434"/>
            <a:ext cx="2258568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s-CO" sz="1200" b="1" noProof="0" dirty="0">
                <a:solidFill>
                  <a:srgbClr val="475569"/>
                </a:solidFill>
                <a:latin typeface="Aptos"/>
              </a:rPr>
              <a:t>S1 34.1% | S2 43.4% | S3 22.5%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238401" y="6363710"/>
            <a:ext cx="10698480" cy="2462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s-CO" sz="1000" b="0" noProof="0" dirty="0">
                <a:solidFill>
                  <a:srgbClr val="64748B"/>
                </a:solidFill>
                <a:latin typeface="Aptos"/>
              </a:rPr>
              <a:t>Impacto IFRS9 del pipeline canónico: el ECL reacciona de forma material al estrés macroeconómico.</a:t>
            </a:r>
          </a:p>
        </p:txBody>
      </p:sp>
      <p:pic>
        <p:nvPicPr>
          <p:cNvPr id="28" name="Imagen 27">
            <a:extLst>
              <a:ext uri="{FF2B5EF4-FFF2-40B4-BE49-F238E27FC236}">
                <a16:creationId xmlns:a16="http://schemas.microsoft.com/office/drawing/2014/main" id="{E2191923-4579-20D9-47BB-92FFA6580BEB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43" t="29881" r="57618" b="29524"/>
          <a:stretch/>
        </p:blipFill>
        <p:spPr>
          <a:xfrm>
            <a:off x="0" y="0"/>
            <a:ext cx="2953753" cy="568389"/>
          </a:xfrm>
          <a:prstGeom prst="rect">
            <a:avLst/>
          </a:prstGeom>
        </p:spPr>
      </p:pic>
      <p:pic>
        <p:nvPicPr>
          <p:cNvPr id="29" name="Imagen 28">
            <a:extLst>
              <a:ext uri="{FF2B5EF4-FFF2-40B4-BE49-F238E27FC236}">
                <a16:creationId xmlns:a16="http://schemas.microsoft.com/office/drawing/2014/main" id="{7437E279-319A-5CE6-7AC3-4678EE65A6E2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278" b="27496"/>
          <a:stretch/>
        </p:blipFill>
        <p:spPr>
          <a:xfrm>
            <a:off x="9984765" y="-144309"/>
            <a:ext cx="2405838" cy="2339126"/>
          </a:xfrm>
          <a:prstGeom prst="rect">
            <a:avLst/>
          </a:prstGeom>
        </p:spPr>
      </p:pic>
      <p:pic>
        <p:nvPicPr>
          <p:cNvPr id="30" name="Imagen 29">
            <a:extLst>
              <a:ext uri="{FF2B5EF4-FFF2-40B4-BE49-F238E27FC236}">
                <a16:creationId xmlns:a16="http://schemas.microsoft.com/office/drawing/2014/main" id="{20168399-03A8-9207-5313-BF6A468CD09B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278" b="27496"/>
          <a:stretch/>
        </p:blipFill>
        <p:spPr>
          <a:xfrm rot="10800000">
            <a:off x="-218093" y="4408396"/>
            <a:ext cx="2684567" cy="2610127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30352" y="762834"/>
            <a:ext cx="164592" cy="53035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4" name="TextBox 3"/>
          <p:cNvSpPr txBox="1"/>
          <p:nvPr/>
        </p:nvSpPr>
        <p:spPr>
          <a:xfrm>
            <a:off x="822960" y="707970"/>
            <a:ext cx="10012680" cy="4308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s-CO" sz="2200" b="1" noProof="0" dirty="0">
                <a:solidFill>
                  <a:srgbClr val="0F172A"/>
                </a:solidFill>
                <a:latin typeface="Aptos Display"/>
              </a:rPr>
              <a:t>Objetivos y evidencias I: marco, datos y experimentación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078992"/>
            <a:ext cx="1024128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7" name="TextBox 6"/>
          <p:cNvSpPr txBox="1"/>
          <p:nvPr/>
        </p:nvSpPr>
        <p:spPr>
          <a:xfrm>
            <a:off x="11762106" y="6590605"/>
            <a:ext cx="325510" cy="2462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s-CO" sz="1000" b="1" noProof="0" dirty="0">
                <a:solidFill>
                  <a:srgbClr val="475569"/>
                </a:solidFill>
                <a:latin typeface="Aptos"/>
              </a:rPr>
              <a:t>19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1353311"/>
            <a:ext cx="10287000" cy="1730293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9" name="Rectangle 8"/>
          <p:cNvSpPr/>
          <p:nvPr/>
        </p:nvSpPr>
        <p:spPr>
          <a:xfrm>
            <a:off x="868680" y="1353311"/>
            <a:ext cx="64008" cy="1730293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10" name="TextBox 9"/>
          <p:cNvSpPr txBox="1"/>
          <p:nvPr/>
        </p:nvSpPr>
        <p:spPr>
          <a:xfrm>
            <a:off x="1014983" y="1444752"/>
            <a:ext cx="10972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s-CO" sz="1000" b="1" noProof="0" dirty="0">
                <a:solidFill>
                  <a:srgbClr val="475569"/>
                </a:solidFill>
                <a:latin typeface="Aptos"/>
              </a:rPr>
              <a:t>Objetivo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4983" y="1609344"/>
            <a:ext cx="9994392" cy="2923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s-CO" sz="1300" b="1" noProof="0" dirty="0">
                <a:solidFill>
                  <a:schemeClr val="tx2"/>
                </a:solidFill>
                <a:latin typeface="Aptos"/>
              </a:rPr>
              <a:t>Revisar el estado del arte de calibración, cuantificación de incertidumbre y conformal Prediction aplicada a riesgo crediticio.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955" y="1997852"/>
            <a:ext cx="10972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s-CO" sz="1000" b="1" noProof="0" dirty="0">
                <a:solidFill>
                  <a:srgbClr val="475569"/>
                </a:solidFill>
                <a:latin typeface="Aptos"/>
              </a:rPr>
              <a:t>Entregable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9135" y="2186945"/>
            <a:ext cx="9994392" cy="2616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s-CO" sz="1100" b="0" noProof="0" dirty="0">
                <a:solidFill>
                  <a:srgbClr val="1F2937"/>
                </a:solidFill>
                <a:latin typeface="Aptos"/>
              </a:rPr>
              <a:t>Marco teórico aplicado y tabla del estado del arte con calibración, Venn-Abers, Split/Mondrian y CQR.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14983" y="2569618"/>
            <a:ext cx="1234440" cy="2462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s-CO" sz="1000" b="1" noProof="0" dirty="0">
                <a:latin typeface="Aptos"/>
              </a:rPr>
              <a:t>Que demostró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5315" y="2730754"/>
            <a:ext cx="9994392" cy="2616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s-CO" sz="1100" b="1" u="sng" noProof="0" dirty="0">
                <a:latin typeface="Aptos"/>
              </a:rPr>
              <a:t>La tesis no usa </a:t>
            </a:r>
            <a:r>
              <a:rPr lang="es-CO" sz="1100" b="1" i="1" u="sng" noProof="0" dirty="0">
                <a:latin typeface="Aptos"/>
              </a:rPr>
              <a:t>Conformal Prediction </a:t>
            </a:r>
            <a:r>
              <a:rPr lang="es-CO" sz="1100" b="1" u="sng" noProof="0" dirty="0">
                <a:latin typeface="Aptos"/>
              </a:rPr>
              <a:t>como palabra de moda: define cuando sirve, cuando no, y como se conecta con riesgo crediticio.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8680" y="3245826"/>
            <a:ext cx="10287000" cy="1494423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17" name="Rectangle 16"/>
          <p:cNvSpPr/>
          <p:nvPr/>
        </p:nvSpPr>
        <p:spPr>
          <a:xfrm>
            <a:off x="868680" y="3245826"/>
            <a:ext cx="64008" cy="1494423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18" name="TextBox 17"/>
          <p:cNvSpPr txBox="1"/>
          <p:nvPr/>
        </p:nvSpPr>
        <p:spPr>
          <a:xfrm>
            <a:off x="1014983" y="3329093"/>
            <a:ext cx="10972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s-CO" sz="1000" b="1" noProof="0" dirty="0">
                <a:solidFill>
                  <a:srgbClr val="475569"/>
                </a:solidFill>
                <a:latin typeface="Aptos"/>
              </a:rPr>
              <a:t>Objetivo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4983" y="3493685"/>
            <a:ext cx="9994392" cy="2923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s-CO" sz="1300" b="1" noProof="0" dirty="0">
                <a:solidFill>
                  <a:schemeClr val="tx2"/>
                </a:solidFill>
                <a:latin typeface="Aptos"/>
              </a:rPr>
              <a:t>Construir y preparar dataset Lending Club 2007-2020 con variables objetivo PD, LGD y EAD.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14983" y="3749040"/>
            <a:ext cx="10972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s-CO" sz="1000" b="1" noProof="0" dirty="0">
                <a:solidFill>
                  <a:srgbClr val="475569"/>
                </a:solidFill>
                <a:latin typeface="Aptos"/>
              </a:rPr>
              <a:t>Entregable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14983" y="3904488"/>
            <a:ext cx="9994392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s-CO" sz="1100" b="0" noProof="0" dirty="0">
                <a:solidFill>
                  <a:srgbClr val="1F2937"/>
                </a:solidFill>
                <a:latin typeface="Aptos"/>
              </a:rPr>
              <a:t>Dataset temporal limpio, con splits OOT y variables objetivo listas para PD, LGD y EAD.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29135" y="4172705"/>
            <a:ext cx="1234440" cy="2462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s-CO" sz="1000" b="1" noProof="0" dirty="0">
                <a:solidFill>
                  <a:srgbClr val="475569"/>
                </a:solidFill>
                <a:latin typeface="Aptos"/>
              </a:rPr>
              <a:t>Que demostró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14983" y="4387182"/>
            <a:ext cx="9994392" cy="2616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s-CO" sz="1100" b="1" i="1" u="sng" noProof="0" dirty="0">
                <a:latin typeface="Aptos"/>
              </a:rPr>
              <a:t>Se logro una base reproducible: Lending Club limpio (1.86M prestamos, 110 columnas) y separado para entrenamiento, calibración y prueba.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68680" y="4865443"/>
            <a:ext cx="10287000" cy="1573051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25" name="Rectangle 24"/>
          <p:cNvSpPr/>
          <p:nvPr/>
        </p:nvSpPr>
        <p:spPr>
          <a:xfrm>
            <a:off x="868680" y="4872216"/>
            <a:ext cx="64008" cy="1573051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26" name="TextBox 25"/>
          <p:cNvSpPr txBox="1"/>
          <p:nvPr/>
        </p:nvSpPr>
        <p:spPr>
          <a:xfrm>
            <a:off x="1014983" y="4888308"/>
            <a:ext cx="10972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s-CO" sz="1000" b="1" noProof="0" dirty="0">
                <a:solidFill>
                  <a:srgbClr val="475569"/>
                </a:solidFill>
                <a:latin typeface="Aptos"/>
              </a:rPr>
              <a:t>Objetivo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14983" y="5052900"/>
            <a:ext cx="9994392" cy="2923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s-CO" sz="1300" b="1" noProof="0" dirty="0">
                <a:solidFill>
                  <a:schemeClr val="tx2"/>
                </a:solidFill>
                <a:latin typeface="Aptos"/>
              </a:rPr>
              <a:t>Diseñar e implementar experimentos con Split Conformal, Mondrian, Venn-Abers y CQR.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14983" y="5321808"/>
            <a:ext cx="10972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s-CO" sz="1000" b="1" noProof="0" dirty="0">
                <a:solidFill>
                  <a:srgbClr val="475569"/>
                </a:solidFill>
                <a:latin typeface="Aptos"/>
              </a:rPr>
              <a:t>Entregable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14983" y="5477256"/>
            <a:ext cx="9994392" cy="2616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s-CO" sz="1100" b="0" noProof="0" dirty="0">
                <a:solidFill>
                  <a:srgbClr val="1F2937"/>
                </a:solidFill>
                <a:latin typeface="Aptos"/>
              </a:rPr>
              <a:t>Batería comparable de experimentos conformales y criterio explicito para seleccionar la variante final.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53562" y="5750198"/>
            <a:ext cx="1467629" cy="2462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s-CO" sz="1000" b="1" noProof="0" dirty="0">
                <a:solidFill>
                  <a:srgbClr val="475569"/>
                </a:solidFill>
                <a:latin typeface="Aptos"/>
              </a:rPr>
              <a:t>Que demostró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36320" y="5937728"/>
            <a:ext cx="9925811" cy="4308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s-CO" sz="1100" b="1" i="1" u="sng" noProof="0" dirty="0">
                <a:latin typeface="Aptos"/>
              </a:rPr>
              <a:t>El proyecto deja una decisión metodológica trazable: que se comparo, que se descarto y por que la política final se quedo con Mondrian en PD y adaptativo grade-tiempo en LGD.</a:t>
            </a:r>
          </a:p>
        </p:txBody>
      </p:sp>
      <p:pic>
        <p:nvPicPr>
          <p:cNvPr id="33" name="Imagen 32">
            <a:extLst>
              <a:ext uri="{FF2B5EF4-FFF2-40B4-BE49-F238E27FC236}">
                <a16:creationId xmlns:a16="http://schemas.microsoft.com/office/drawing/2014/main" id="{93697235-E49A-6511-FA03-E841893B5DF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43" t="29881" r="57618" b="29524"/>
          <a:stretch/>
        </p:blipFill>
        <p:spPr>
          <a:xfrm>
            <a:off x="0" y="0"/>
            <a:ext cx="2953753" cy="568389"/>
          </a:xfrm>
          <a:prstGeom prst="rect">
            <a:avLst/>
          </a:prstGeom>
        </p:spPr>
      </p:pic>
      <p:pic>
        <p:nvPicPr>
          <p:cNvPr id="34" name="Imagen 33">
            <a:extLst>
              <a:ext uri="{FF2B5EF4-FFF2-40B4-BE49-F238E27FC236}">
                <a16:creationId xmlns:a16="http://schemas.microsoft.com/office/drawing/2014/main" id="{3CC7D576-F010-9A29-86AA-EFC5117437B1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278" b="27496"/>
          <a:stretch/>
        </p:blipFill>
        <p:spPr>
          <a:xfrm>
            <a:off x="9974098" y="-145435"/>
            <a:ext cx="2405838" cy="2339126"/>
          </a:xfrm>
          <a:prstGeom prst="rect">
            <a:avLst/>
          </a:prstGeom>
        </p:spPr>
      </p:pic>
      <p:pic>
        <p:nvPicPr>
          <p:cNvPr id="35" name="Imagen 34">
            <a:extLst>
              <a:ext uri="{FF2B5EF4-FFF2-40B4-BE49-F238E27FC236}">
                <a16:creationId xmlns:a16="http://schemas.microsoft.com/office/drawing/2014/main" id="{DF643356-8D6F-4F42-F678-1A277847EFAB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278" b="27496"/>
          <a:stretch/>
        </p:blipFill>
        <p:spPr>
          <a:xfrm rot="10800000">
            <a:off x="-168809" y="5242784"/>
            <a:ext cx="1778404" cy="1729091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30352" y="769097"/>
            <a:ext cx="164592" cy="53035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4" name="TextBox 3"/>
          <p:cNvSpPr txBox="1"/>
          <p:nvPr/>
        </p:nvSpPr>
        <p:spPr>
          <a:xfrm>
            <a:off x="822960" y="714233"/>
            <a:ext cx="10012680" cy="4308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s-CO" sz="2200" b="1" noProof="0" dirty="0">
                <a:solidFill>
                  <a:srgbClr val="0F172A"/>
                </a:solidFill>
                <a:latin typeface="Aptos Display"/>
              </a:rPr>
              <a:t>Objetivos y evidencias II: comparación, impacto y adopción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078992"/>
            <a:ext cx="1024128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7" name="TextBox 6"/>
          <p:cNvSpPr txBox="1"/>
          <p:nvPr/>
        </p:nvSpPr>
        <p:spPr>
          <a:xfrm>
            <a:off x="11849100" y="6539899"/>
            <a:ext cx="342900" cy="2462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s-CO" sz="1000" b="1" noProof="0" dirty="0">
                <a:solidFill>
                  <a:srgbClr val="475569"/>
                </a:solidFill>
                <a:latin typeface="Aptos"/>
              </a:rPr>
              <a:t>20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1353311"/>
            <a:ext cx="10287000" cy="1550927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9" name="Rectangle 8"/>
          <p:cNvSpPr/>
          <p:nvPr/>
        </p:nvSpPr>
        <p:spPr>
          <a:xfrm>
            <a:off x="868680" y="1353311"/>
            <a:ext cx="64008" cy="1550927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10" name="TextBox 9"/>
          <p:cNvSpPr txBox="1"/>
          <p:nvPr/>
        </p:nvSpPr>
        <p:spPr>
          <a:xfrm>
            <a:off x="1014983" y="1444752"/>
            <a:ext cx="10972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s-CO" sz="1000" b="1" noProof="0" dirty="0">
                <a:solidFill>
                  <a:srgbClr val="475569"/>
                </a:solidFill>
                <a:latin typeface="Aptos"/>
              </a:rPr>
              <a:t>Objetivo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4983" y="1609344"/>
            <a:ext cx="9994392" cy="2923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s-CO" sz="1300" b="1" noProof="0" dirty="0">
                <a:solidFill>
                  <a:schemeClr val="tx2"/>
                </a:solidFill>
                <a:latin typeface="Aptos"/>
              </a:rPr>
              <a:t>Comparar desempeño frente a métodos tradicionales de calibración (Platt, Isotonic y benchmarks residuales).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14983" y="1891791"/>
            <a:ext cx="10972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s-CO" sz="1000" b="1" noProof="0" dirty="0">
                <a:solidFill>
                  <a:srgbClr val="475569"/>
                </a:solidFill>
                <a:latin typeface="Aptos"/>
              </a:rPr>
              <a:t>Entregable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4983" y="2047239"/>
            <a:ext cx="9994392" cy="2616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s-CO" sz="1100" b="0" noProof="0" dirty="0">
                <a:solidFill>
                  <a:srgbClr val="1F2937"/>
                </a:solidFill>
                <a:latin typeface="Aptos"/>
              </a:rPr>
              <a:t>Benchmark OOT de PD y de variantes conformales, con lectura de discriminación, calibración, coverage y eficiencia.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6988" y="2362912"/>
            <a:ext cx="1234440" cy="2462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s-CO" sz="1000" b="1" noProof="0" dirty="0">
                <a:solidFill>
                  <a:srgbClr val="475569"/>
                </a:solidFill>
                <a:latin typeface="Aptos"/>
              </a:rPr>
              <a:t>Que demostró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14983" y="2590667"/>
            <a:ext cx="9994392" cy="2616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s-CO" sz="1100" b="1" u="sng" noProof="0" dirty="0">
                <a:latin typeface="Aptos"/>
              </a:rPr>
              <a:t>CatBoost calibrado con Isotonic mejora la calidad probabilística, y el conformal global demuestra por que una garantía solo promedio no es suficiente.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8680" y="3012936"/>
            <a:ext cx="10287000" cy="162929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17" name="Rectangle 16"/>
          <p:cNvSpPr/>
          <p:nvPr/>
        </p:nvSpPr>
        <p:spPr>
          <a:xfrm>
            <a:off x="868680" y="3034452"/>
            <a:ext cx="64008" cy="162929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18" name="TextBox 17"/>
          <p:cNvSpPr txBox="1"/>
          <p:nvPr/>
        </p:nvSpPr>
        <p:spPr>
          <a:xfrm>
            <a:off x="1046988" y="3078455"/>
            <a:ext cx="10972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s-CO" sz="1000" b="1" noProof="0" dirty="0">
                <a:solidFill>
                  <a:srgbClr val="475569"/>
                </a:solidFill>
                <a:latin typeface="Aptos"/>
              </a:rPr>
              <a:t>Objetivo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9848" y="3262690"/>
            <a:ext cx="9994392" cy="2923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s-CO" sz="1300" b="1" noProof="0" dirty="0">
                <a:solidFill>
                  <a:schemeClr val="tx2"/>
                </a:solidFill>
                <a:latin typeface="Aptos"/>
              </a:rPr>
              <a:t>Evaluar impacto potencial en provisiones IFRS9, asignación de capital y backtesting regulatorio.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9848" y="3490418"/>
            <a:ext cx="10972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s-CO" sz="1000" b="1" noProof="0" dirty="0">
                <a:solidFill>
                  <a:srgbClr val="475569"/>
                </a:solidFill>
                <a:latin typeface="Aptos"/>
              </a:rPr>
              <a:t>Entregable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14983" y="3647438"/>
            <a:ext cx="9994392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s-CO" sz="1100" b="0" noProof="0" dirty="0">
                <a:solidFill>
                  <a:srgbClr val="1F2937"/>
                </a:solidFill>
                <a:latin typeface="Aptos"/>
              </a:rPr>
              <a:t>Lectura de negocio sobre provisiones: escenarios IFRS9, stages y sensibilidad del ECL.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49864" y="3916834"/>
            <a:ext cx="1234440" cy="2462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s-CO" sz="1000" b="1" noProof="0" dirty="0">
                <a:solidFill>
                  <a:srgbClr val="475569"/>
                </a:solidFill>
                <a:latin typeface="Aptos"/>
              </a:rPr>
              <a:t>Que demostró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49864" y="4153381"/>
            <a:ext cx="9994392" cy="2616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s-CO" sz="1100" b="1" u="sng" noProof="0" dirty="0">
                <a:latin typeface="Aptos"/>
              </a:rPr>
              <a:t>La tesis llega hasta una conversación financiera concreta: la incertidumbre mueve provisiones desde 0.97B en baseline hasta 1.78B en escenario severe.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68680" y="4772500"/>
            <a:ext cx="10287000" cy="149671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25" name="Rectangle 24"/>
          <p:cNvSpPr/>
          <p:nvPr/>
        </p:nvSpPr>
        <p:spPr>
          <a:xfrm>
            <a:off x="868680" y="4772500"/>
            <a:ext cx="64008" cy="1496718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26" name="TextBox 25"/>
          <p:cNvSpPr txBox="1"/>
          <p:nvPr/>
        </p:nvSpPr>
        <p:spPr>
          <a:xfrm>
            <a:off x="1036320" y="4763357"/>
            <a:ext cx="10972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s-CO" sz="1000" b="1" noProof="0" dirty="0">
                <a:solidFill>
                  <a:srgbClr val="475569"/>
                </a:solidFill>
                <a:latin typeface="Aptos"/>
              </a:rPr>
              <a:t>Objetivo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14983" y="4983701"/>
            <a:ext cx="9994392" cy="2923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s-CO" sz="1300" b="1" noProof="0" dirty="0">
                <a:solidFill>
                  <a:schemeClr val="tx2"/>
                </a:solidFill>
                <a:latin typeface="Aptos"/>
              </a:rPr>
              <a:t>Proponer lineamientos prácticos de adopción de conformal Prediction en contexto bancario real.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14983" y="5321808"/>
            <a:ext cx="10972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s-CO" sz="1000" b="1" noProof="0" dirty="0">
                <a:solidFill>
                  <a:srgbClr val="475569"/>
                </a:solidFill>
                <a:latin typeface="Aptos"/>
              </a:rPr>
              <a:t>Entregable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14983" y="5477256"/>
            <a:ext cx="9994392" cy="2616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s-CO" sz="1100" b="0" noProof="0" dirty="0">
                <a:solidFill>
                  <a:srgbClr val="1F2937"/>
                </a:solidFill>
                <a:latin typeface="Aptos"/>
              </a:rPr>
              <a:t>Paquete reproducible de adopción: runbook, checkpoints de gobernanza y narrativa ejecutable.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14983" y="5739298"/>
            <a:ext cx="1234440" cy="2462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s-CO" sz="1000" b="1" noProof="0" dirty="0">
                <a:solidFill>
                  <a:srgbClr val="475569"/>
                </a:solidFill>
                <a:latin typeface="Aptos"/>
              </a:rPr>
              <a:t>Que demostró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14983" y="5920690"/>
            <a:ext cx="9994392" cy="2616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s-CO" sz="1100" b="1" u="sng" noProof="0" dirty="0">
                <a:latin typeface="Aptos"/>
              </a:rPr>
              <a:t>El entregable final no es solo una corrida técnica: es una ruta practica para explicar, monitorear y defender la adopción de CP en un contexto bancario real.</a:t>
            </a:r>
          </a:p>
        </p:txBody>
      </p:sp>
      <p:pic>
        <p:nvPicPr>
          <p:cNvPr id="36" name="Imagen 35">
            <a:extLst>
              <a:ext uri="{FF2B5EF4-FFF2-40B4-BE49-F238E27FC236}">
                <a16:creationId xmlns:a16="http://schemas.microsoft.com/office/drawing/2014/main" id="{76F96B29-868B-4099-E574-D341BC7CD7A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43" t="29881" r="57618" b="29524"/>
          <a:stretch/>
        </p:blipFill>
        <p:spPr>
          <a:xfrm>
            <a:off x="0" y="0"/>
            <a:ext cx="2953753" cy="568389"/>
          </a:xfrm>
          <a:prstGeom prst="rect">
            <a:avLst/>
          </a:prstGeom>
        </p:spPr>
      </p:pic>
      <p:pic>
        <p:nvPicPr>
          <p:cNvPr id="37" name="Imagen 36">
            <a:extLst>
              <a:ext uri="{FF2B5EF4-FFF2-40B4-BE49-F238E27FC236}">
                <a16:creationId xmlns:a16="http://schemas.microsoft.com/office/drawing/2014/main" id="{08F17274-7CC8-9722-B614-9BA6A905B189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278" b="27496"/>
          <a:stretch/>
        </p:blipFill>
        <p:spPr>
          <a:xfrm>
            <a:off x="9974098" y="-124597"/>
            <a:ext cx="2405838" cy="2339126"/>
          </a:xfrm>
          <a:prstGeom prst="rect">
            <a:avLst/>
          </a:prstGeom>
        </p:spPr>
      </p:pic>
      <p:pic>
        <p:nvPicPr>
          <p:cNvPr id="38" name="Imagen 37">
            <a:extLst>
              <a:ext uri="{FF2B5EF4-FFF2-40B4-BE49-F238E27FC236}">
                <a16:creationId xmlns:a16="http://schemas.microsoft.com/office/drawing/2014/main" id="{99E6316C-0386-298C-C81A-42FE91B5A4D2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278" b="27496"/>
          <a:stretch/>
        </p:blipFill>
        <p:spPr>
          <a:xfrm rot="10800000">
            <a:off x="-155463" y="5141345"/>
            <a:ext cx="1859003" cy="1807455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30352" y="706467"/>
            <a:ext cx="164592" cy="53035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4" name="TextBox 3"/>
          <p:cNvSpPr txBox="1"/>
          <p:nvPr/>
        </p:nvSpPr>
        <p:spPr>
          <a:xfrm>
            <a:off x="822960" y="651603"/>
            <a:ext cx="10012680" cy="8046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s-CO" sz="2200" b="1" noProof="0" dirty="0">
                <a:solidFill>
                  <a:srgbClr val="0F172A"/>
                </a:solidFill>
                <a:latin typeface="Aptos Display"/>
              </a:rPr>
              <a:t>Que quedo demostrado y que sigue abierto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078992"/>
            <a:ext cx="1024128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7" name="TextBox 6"/>
          <p:cNvSpPr txBox="1"/>
          <p:nvPr/>
        </p:nvSpPr>
        <p:spPr>
          <a:xfrm>
            <a:off x="11843254" y="6508690"/>
            <a:ext cx="332441" cy="2462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s-CO" sz="1000" b="1" noProof="0" dirty="0">
                <a:solidFill>
                  <a:srgbClr val="475569"/>
                </a:solidFill>
                <a:latin typeface="Aptos"/>
              </a:rPr>
              <a:t>21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1389888"/>
            <a:ext cx="4679514" cy="44439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9" name="TextBox 8"/>
          <p:cNvSpPr txBox="1"/>
          <p:nvPr/>
        </p:nvSpPr>
        <p:spPr>
          <a:xfrm>
            <a:off x="1078992" y="1682496"/>
            <a:ext cx="2948126" cy="3231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s-CO" sz="1500" b="1" noProof="0" dirty="0">
                <a:solidFill>
                  <a:srgbClr val="0EA5E9"/>
                </a:solidFill>
                <a:latin typeface="Aptos"/>
              </a:rPr>
              <a:t>Logros del proyecto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6320" y="2368296"/>
            <a:ext cx="4572000" cy="22082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lang="es-CO" sz="1500" noProof="0" dirty="0">
                <a:solidFill>
                  <a:srgbClr val="1F2937"/>
                </a:solidFill>
                <a:latin typeface="Aptos"/>
              </a:rPr>
              <a:t>- La tesis presenta una propuesta completa para mejorar la toma de decisiones en riesgo de crédito</a:t>
            </a:r>
          </a:p>
          <a:p>
            <a:pPr>
              <a:spcAft>
                <a:spcPts val="700"/>
              </a:spcAft>
            </a:pPr>
            <a:r>
              <a:rPr lang="es-CO" sz="1500" noProof="0" dirty="0">
                <a:solidFill>
                  <a:srgbClr val="1F2937"/>
                </a:solidFill>
                <a:latin typeface="Aptos"/>
              </a:rPr>
              <a:t>- PD queda calibrada y con incertidumbre interpretable.</a:t>
            </a:r>
          </a:p>
          <a:p>
            <a:pPr>
              <a:spcAft>
                <a:spcPts val="700"/>
              </a:spcAft>
            </a:pPr>
            <a:r>
              <a:rPr lang="es-CO" sz="1500" noProof="0" dirty="0">
                <a:solidFill>
                  <a:srgbClr val="1F2937"/>
                </a:solidFill>
                <a:latin typeface="Aptos"/>
              </a:rPr>
              <a:t>- LGD y EAD ya alcanzan cobertura defendible con benchmark explicito.</a:t>
            </a:r>
          </a:p>
          <a:p>
            <a:pPr>
              <a:spcAft>
                <a:spcPts val="700"/>
              </a:spcAft>
            </a:pPr>
            <a:r>
              <a:rPr lang="es-CO" sz="1500" noProof="0" dirty="0">
                <a:solidFill>
                  <a:srgbClr val="1F2937"/>
                </a:solidFill>
                <a:latin typeface="Aptos"/>
              </a:rPr>
              <a:t>- IFRS9 conecta la parte técnica con una lectura económica real.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803705" y="1389888"/>
            <a:ext cx="5351975" cy="4443984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12" name="TextBox 11"/>
          <p:cNvSpPr txBox="1"/>
          <p:nvPr/>
        </p:nvSpPr>
        <p:spPr>
          <a:xfrm>
            <a:off x="6528816" y="1682496"/>
            <a:ext cx="2221026" cy="3231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s-CO" sz="1500" b="1" noProof="0" dirty="0">
                <a:solidFill>
                  <a:srgbClr val="F97316"/>
                </a:solidFill>
                <a:latin typeface="Aptos"/>
              </a:rPr>
              <a:t>Siguientes pasos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28816" y="1993392"/>
            <a:ext cx="4297680" cy="13362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lang="es-CO" sz="1500" noProof="0" dirty="0">
                <a:solidFill>
                  <a:srgbClr val="1F2937"/>
                </a:solidFill>
                <a:latin typeface="Aptos"/>
              </a:rPr>
              <a:t>- Combinar los modelos de machine learning y conformal Prediction con modelos de optimización.</a:t>
            </a:r>
          </a:p>
          <a:p>
            <a:pPr>
              <a:spcAft>
                <a:spcPts val="700"/>
              </a:spcAft>
            </a:pPr>
            <a:r>
              <a:rPr lang="es-CO" sz="1500" noProof="0" dirty="0">
                <a:solidFill>
                  <a:srgbClr val="1F2937"/>
                </a:solidFill>
                <a:latin typeface="Aptos"/>
              </a:rPr>
              <a:t>- Implementar un pipeline predict then optimize end to end.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4191" y="4687747"/>
            <a:ext cx="42976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s-CO" sz="1500" b="1" noProof="0" dirty="0">
                <a:solidFill>
                  <a:srgbClr val="0F172A"/>
                </a:solidFill>
                <a:latin typeface="Aptos"/>
              </a:rPr>
              <a:t>Mensaje final: Conformal Prediction sirve porque hace visible lo que antes el modelo callaba.</a:t>
            </a:r>
          </a:p>
        </p:txBody>
      </p:sp>
      <p:pic>
        <p:nvPicPr>
          <p:cNvPr id="16" name="Imagen 15">
            <a:extLst>
              <a:ext uri="{FF2B5EF4-FFF2-40B4-BE49-F238E27FC236}">
                <a16:creationId xmlns:a16="http://schemas.microsoft.com/office/drawing/2014/main" id="{F4E1FEE1-AD85-C196-4A92-15703CF9E3E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43" t="29881" r="57618" b="29524"/>
          <a:stretch/>
        </p:blipFill>
        <p:spPr>
          <a:xfrm>
            <a:off x="0" y="0"/>
            <a:ext cx="2953753" cy="568389"/>
          </a:xfrm>
          <a:prstGeom prst="rect">
            <a:avLst/>
          </a:prstGeom>
        </p:spPr>
      </p:pic>
      <p:pic>
        <p:nvPicPr>
          <p:cNvPr id="17" name="Imagen 16">
            <a:extLst>
              <a:ext uri="{FF2B5EF4-FFF2-40B4-BE49-F238E27FC236}">
                <a16:creationId xmlns:a16="http://schemas.microsoft.com/office/drawing/2014/main" id="{9066361C-247C-EE35-4E91-9F9D19D170B9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278" b="27496"/>
          <a:stretch/>
        </p:blipFill>
        <p:spPr>
          <a:xfrm>
            <a:off x="9989077" y="-145435"/>
            <a:ext cx="2405838" cy="2339126"/>
          </a:xfrm>
          <a:prstGeom prst="rect">
            <a:avLst/>
          </a:prstGeom>
        </p:spPr>
      </p:pic>
      <p:pic>
        <p:nvPicPr>
          <p:cNvPr id="18" name="Imagen 17">
            <a:extLst>
              <a:ext uri="{FF2B5EF4-FFF2-40B4-BE49-F238E27FC236}">
                <a16:creationId xmlns:a16="http://schemas.microsoft.com/office/drawing/2014/main" id="{52BDF6BD-DDAB-9F83-B6AB-1B6D783204C0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278" b="27496"/>
          <a:stretch/>
        </p:blipFill>
        <p:spPr>
          <a:xfrm rot="10800000">
            <a:off x="-218093" y="4408396"/>
            <a:ext cx="2684567" cy="2610127"/>
          </a:xfrm>
          <a:prstGeom prst="rect">
            <a:avLst/>
          </a:prstGeom>
        </p:spPr>
      </p:pic>
      <p:pic>
        <p:nvPicPr>
          <p:cNvPr id="19" name="Imagen 18">
            <a:extLst>
              <a:ext uri="{FF2B5EF4-FFF2-40B4-BE49-F238E27FC236}">
                <a16:creationId xmlns:a16="http://schemas.microsoft.com/office/drawing/2014/main" id="{8DC98C29-7AF8-209F-AFE2-A8F48D2B6B6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0" y="3596480"/>
            <a:ext cx="4937739" cy="1541497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30352" y="762834"/>
            <a:ext cx="164592" cy="53035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4" name="TextBox 3"/>
          <p:cNvSpPr txBox="1"/>
          <p:nvPr/>
        </p:nvSpPr>
        <p:spPr>
          <a:xfrm>
            <a:off x="822960" y="707970"/>
            <a:ext cx="10012680" cy="8046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s-CO" sz="2200" b="1" noProof="0" dirty="0">
                <a:solidFill>
                  <a:srgbClr val="0F172A"/>
                </a:solidFill>
                <a:latin typeface="Aptos Display"/>
              </a:rPr>
              <a:t>Referencias clave del proyecto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078992"/>
            <a:ext cx="1024128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7" name="TextBox 6"/>
          <p:cNvSpPr txBox="1"/>
          <p:nvPr/>
        </p:nvSpPr>
        <p:spPr>
          <a:xfrm>
            <a:off x="11841480" y="6583348"/>
            <a:ext cx="338703" cy="2462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s-CO" sz="1000" b="1" noProof="0" dirty="0">
                <a:solidFill>
                  <a:srgbClr val="475569"/>
                </a:solidFill>
                <a:latin typeface="Aptos"/>
              </a:rPr>
              <a:t>22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1353312"/>
            <a:ext cx="10972800" cy="48280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9" name="TextBox 8"/>
          <p:cNvSpPr txBox="1"/>
          <p:nvPr/>
        </p:nvSpPr>
        <p:spPr>
          <a:xfrm>
            <a:off x="1115568" y="1700784"/>
            <a:ext cx="10469880" cy="27982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lang="es-CO" sz="1500" noProof="0" dirty="0">
                <a:solidFill>
                  <a:srgbClr val="1F2937"/>
                </a:solidFill>
                <a:latin typeface="Aptos"/>
              </a:rPr>
              <a:t>- Basel Committee on Banking Supervision (2006). International Convergence of Capital Measurement and Capital Standards.</a:t>
            </a:r>
          </a:p>
          <a:p>
            <a:pPr>
              <a:spcAft>
                <a:spcPts val="700"/>
              </a:spcAft>
            </a:pPr>
            <a:r>
              <a:rPr lang="es-CO" sz="1500" noProof="0" dirty="0">
                <a:solidFill>
                  <a:srgbClr val="1F2937"/>
                </a:solidFill>
                <a:latin typeface="Aptos"/>
              </a:rPr>
              <a:t>- IASB (2014). IFRS 9 Financial Instruments.</a:t>
            </a:r>
          </a:p>
          <a:p>
            <a:pPr>
              <a:spcAft>
                <a:spcPts val="700"/>
              </a:spcAft>
            </a:pPr>
            <a:r>
              <a:rPr lang="es-CO" sz="1500" noProof="0" dirty="0">
                <a:solidFill>
                  <a:srgbClr val="1F2937"/>
                </a:solidFill>
                <a:latin typeface="Aptos"/>
              </a:rPr>
              <a:t>- Vovk, Gammerman y Shafer (2022). Algorithmic Learning in a Random World.</a:t>
            </a:r>
          </a:p>
          <a:p>
            <a:pPr>
              <a:spcAft>
                <a:spcPts val="700"/>
              </a:spcAft>
            </a:pPr>
            <a:r>
              <a:rPr lang="es-CO" sz="1500" noProof="0" dirty="0">
                <a:solidFill>
                  <a:srgbClr val="1F2937"/>
                </a:solidFill>
                <a:latin typeface="Aptos"/>
              </a:rPr>
              <a:t>- Angelopoulos y Bates (2023). A Gentle Introduction to Conformal Prediction and Distribution-Free Uncertainty Quantification.</a:t>
            </a:r>
          </a:p>
          <a:p>
            <a:pPr>
              <a:spcAft>
                <a:spcPts val="700"/>
              </a:spcAft>
            </a:pPr>
            <a:r>
              <a:rPr lang="es-CO" sz="1500" noProof="0" dirty="0">
                <a:solidFill>
                  <a:srgbClr val="1F2937"/>
                </a:solidFill>
                <a:latin typeface="Aptos"/>
              </a:rPr>
              <a:t>- Romano, Patterson y Candes (2019). Conformalized Quantile Regression.</a:t>
            </a:r>
          </a:p>
          <a:p>
            <a:pPr>
              <a:spcAft>
                <a:spcPts val="700"/>
              </a:spcAft>
            </a:pPr>
            <a:r>
              <a:rPr lang="es-CO" sz="1500" noProof="0" dirty="0">
                <a:solidFill>
                  <a:srgbClr val="1F2937"/>
                </a:solidFill>
                <a:latin typeface="Aptos"/>
              </a:rPr>
              <a:t>- Bellotti (2017). Reliable region predictions for automated credit scoring.</a:t>
            </a:r>
          </a:p>
          <a:p>
            <a:pPr>
              <a:spcAft>
                <a:spcPts val="700"/>
              </a:spcAft>
            </a:pPr>
            <a:r>
              <a:rPr lang="es-CO" sz="1500" noProof="0" dirty="0">
                <a:solidFill>
                  <a:srgbClr val="1F2937"/>
                </a:solidFill>
                <a:latin typeface="Aptos"/>
              </a:rPr>
              <a:t>- Vovk y Petej (2014). Venn-Abers Predictors.</a:t>
            </a:r>
          </a:p>
          <a:p>
            <a:pPr>
              <a:spcAft>
                <a:spcPts val="700"/>
              </a:spcAft>
            </a:pPr>
            <a:r>
              <a:rPr lang="es-CO" sz="1500" noProof="0" dirty="0">
                <a:solidFill>
                  <a:srgbClr val="1F2937"/>
                </a:solidFill>
                <a:latin typeface="Aptos"/>
              </a:rPr>
              <a:t>- Lending Club (2020). Lending Club Loan Data 2007-2020 Q3.</a:t>
            </a:r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A9030F5E-27E1-85B2-8E8E-0F83E1449FE3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43" t="29881" r="57618" b="29524"/>
          <a:stretch/>
        </p:blipFill>
        <p:spPr>
          <a:xfrm>
            <a:off x="0" y="0"/>
            <a:ext cx="2953753" cy="568389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43EEA6FB-0C7F-2D7D-E083-D2614A13BCF5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278" b="27496"/>
          <a:stretch/>
        </p:blipFill>
        <p:spPr>
          <a:xfrm>
            <a:off x="9981445" y="-141553"/>
            <a:ext cx="2405838" cy="2339126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08744852-6983-E385-C11B-39DCE7C83C03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278" b="27496"/>
          <a:stretch/>
        </p:blipFill>
        <p:spPr>
          <a:xfrm rot="10800000">
            <a:off x="-218093" y="4408396"/>
            <a:ext cx="2684567" cy="261012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1508</TotalTime>
  <Words>2375</Words>
  <Application>Microsoft Office PowerPoint</Application>
  <PresentationFormat>Panorámica</PresentationFormat>
  <Paragraphs>309</Paragraphs>
  <Slides>22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22</vt:i4>
      </vt:variant>
    </vt:vector>
  </HeadingPairs>
  <TitlesOfParts>
    <vt:vector size="27" baseType="lpstr">
      <vt:lpstr>Aptos</vt:lpstr>
      <vt:lpstr>Aptos Display</vt:lpstr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Carlos Alfredo Vergara Rojas</cp:lastModifiedBy>
  <cp:revision>8</cp:revision>
  <dcterms:created xsi:type="dcterms:W3CDTF">2013-01-27T09:14:16Z</dcterms:created>
  <dcterms:modified xsi:type="dcterms:W3CDTF">2026-03-07T06:14:07Z</dcterms:modified>
  <cp:category/>
</cp:coreProperties>
</file>
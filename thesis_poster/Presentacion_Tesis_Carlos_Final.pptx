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Conformal Prediction para la Calibracion</a:t>
            </a:r>
            <a:br/>
            <a:r>
              <a:t>y Cuantificacion de Incertidumbre en</a:t>
            </a:r>
            <a:br/>
            <a:r>
              <a:t>Modelos de Riesgo Crediticio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22860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BBDD"/>
                </a:solidFill>
                <a:latin typeface="Arial"/>
              </a:defRPr>
            </a:pPr>
            <a:r>
              <a:t>Tesis de Especializacion en Analitica y Ciencia de Datos Aplicada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ADCFC"/>
                </a:solidFill>
                <a:latin typeface="Arial"/>
              </a:defRPr>
            </a:pPr>
            <a:r>
              <a:t>Carlos Alfredo Vergara Rojas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Arial"/>
              </a:defRPr>
            </a:pPr>
            <a:r>
              <a:t>Directora: Eliana Mirledy Toro Ocampo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BBDD"/>
                </a:solidFill>
                <a:latin typeface="Arial"/>
              </a:defRPr>
            </a:pPr>
            <a:r>
              <a:t>Universidad Tecnologica de Pereira  |  Marzo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AACC"/>
                </a:solidFill>
                <a:latin typeface="Arial"/>
              </a:defRPr>
            </a:pPr>
            <a:r>
              <a:t>"Una probabilidad puntual ordena clientes; una prediccion con incertidumbre permite decidir con prudencia."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F4E79"/>
                </a:solidFill>
                <a:latin typeface="Arial"/>
              </a:defRPr>
            </a:pPr>
            <a:r>
              <a:t>Estructura de la presentacion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1. Motivacion y planteamiento del problema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2. Pregunta de investigacion y objetivos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3. Marco teorico: Conformal Prediction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4. Metodologia (6 fases CRISP-DM)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5. Resultados: PD, calibracion, Mondrian, LGD/EAD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6. Impacto regulatorio IFRS 9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7. Respuesta a la evaluacion del anteproyecto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  <a:latin typeface="Arial"/>
              </a:rPr>
              <a:t>8. Cumplimiento de objetivos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Las decisiones de credito dependen de PD, LGD y EAD,</a:t>
            </a:r>
            <a:br/>
            <a:r>
              <a:t>pero hoy se toman con incertidumbre oculta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8288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1430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417319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Prob. default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18288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1430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LGD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19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Severidad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97280"/>
            <a:ext cx="18288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1430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417319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Exposicion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3444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1F4E79"/>
                </a:solidFill>
                <a:latin typeface="Arial"/>
              </a:defRPr>
            </a:pPr>
            <a:r>
              <a:t>ECL = PD x LGD x 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Arial"/>
              </a:rPr>
              <a:t>Estas metricas alimentan provisiones (IFRS 9) y capital regulatorio (Basilea III).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Arial"/>
              </a:rPr>
              <a:t>Los modelos ML logran buen ranking (AUC-ROC), pero producen probabilidades mal calibradas.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Arial"/>
              </a:rPr>
              <a:t>Una PD de 12% no indica si el valor real esta entre 10-14% o entre 5-28%.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Arial"/>
              </a:rPr>
              <a:t>Sin incertidumbre explicita: perdidas inesperadas, provisiones excesivas, desconfianza regulatoria.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Fuente: Basel Committee (2006), IASB (2014), Angelopoulos &amp; Bates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Pregunta de investigacion y contribucion central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7315200" cy="128016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6949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0">
                <a:solidFill>
                  <a:srgbClr val="1F4E79"/>
                </a:solidFill>
                <a:latin typeface="Arial"/>
              </a:defRPr>
            </a:pPr>
            <a:r>
              <a:t>Como mejorar la calibracion y la cuantificacion de la incertidumbre</a:t>
            </a:r>
            <a:br/>
            <a:r>
              <a:t>en los modelos de riesgo crediticio (PD, LGD, EAD) mediante la aplicacion</a:t>
            </a:r>
            <a:br/>
            <a:r>
              <a:t>de tecnicas de prediccion conformal, y cual es su desempeno</a:t>
            </a:r>
            <a:br/>
            <a:r>
              <a:t>comparado frente a metodos tradicionales de calibracion?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E75B6"/>
                </a:solidFill>
                <a:latin typeface="Arial"/>
              </a:defRPr>
            </a:pPr>
            <a:r>
              <a:t>Contribucion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Arial"/>
              </a:rPr>
              <a:t>Extension de CP a la triada completa PD-LGD-EAD (literatura solo cubre PD).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Arial"/>
              </a:rPr>
              <a:t>Demostracion de +30pp en cobertura minima con Mondrian vs Split Global.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Arial"/>
              </a:rPr>
              <a:t>Propuesta del ancho conformal como senal SICR para clasificacion por etapas IFRS 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77777"/>
                </a:solidFill>
                <a:latin typeface="Arial"/>
              </a:defRPr>
            </a:pPr>
            <a:r>
              <a:t>Caso de estudio: Lending Club (2007-2020), 1.86M prestamos, dataset publico y replicable.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Seis objetivos especificos reformulados con alcance acotado y medible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OE1: Fundamentar teoricamente CP en riesgo crediticio mediante revision sistematica (Split, Mondrian, CQR).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OE2: Construir dataset analitico con separacion temporal estricta OOT y variables PD, LGD, EAD sin leakage.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OE3: Implementar modelo base PD calibrado (CatBoost + calibracion post-hoc) evaluando AUC, Brier, ECE.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OE4: Aplicar CP Mondrian sobre PD y variantes adaptativas sobre LGD/EAD, evaluando cobertura condicional.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OE5: Evaluar impacto en IFRS 9: ECL por escenarios, clasificacion Stage 1-3, y sensibilidad de provisiones.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OE6: Proponer lineamientos de adopcion: monitoreo de cobertura, alertas de degradacion, gobernanza.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Cambio vs. anteproyecto: se acoto alcance a CP sobre PD/LGD/EAD e IFRS 9, excluyendo optimizacion robusta e inferencia causal (reservados para maestria).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Conformal Prediction ofrece garantias formales de cobertura</a:t>
            </a:r>
            <a:br/>
            <a:r>
              <a:t>que bootstrap y metodos bayesianos no proveen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0392B"/>
                </a:solidFill>
                <a:latin typeface="Arial"/>
              </a:defRPr>
            </a:pPr>
            <a:r>
              <a:t>Sin incertidumbre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PD = 12%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El modelo no muestra si esa cifra es estable o fragil.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Sobreconfianza en originacion y provision.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972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Arial"/>
              </a:defRPr>
            </a:pPr>
            <a:r>
              <a:t>Con Conformal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PD = 12%, intervalo [8%, 17%]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Garantia: P(Y in C(X)) &gt;= 1-alpha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Sin supuestos parametricos (distribution-free).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Solo requiere intercambiabilidad de datos.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E75B6"/>
                </a:solidFill>
                <a:latin typeface="Arial"/>
              </a:defRPr>
            </a:pPr>
            <a:r>
              <a:t>Ventajas de CP vs. alternativas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600">
                <a:solidFill>
                  <a:srgbClr val="2D2D2D"/>
                </a:solidFill>
                <a:latin typeface="Arial"/>
              </a:rPr>
              <a:t>vs. Bootstrap:</a:t>
            </a:r>
            <a:r>
              <a:rPr sz="1600">
                <a:solidFill>
                  <a:srgbClr val="2D2D2D"/>
                </a:solidFill>
                <a:latin typeface="Arial"/>
              </a:rPr>
              <a:t> CP tiene garantias en muestras finitas; bootstrap no.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2D2D2D"/>
                </a:solidFill>
                <a:latin typeface="Arial"/>
              </a:rPr>
              <a:t>vs. Bayesiano:</a:t>
            </a:r>
            <a:r>
              <a:rPr sz="1600">
                <a:solidFill>
                  <a:srgbClr val="2D2D2D"/>
                </a:solidFill>
                <a:latin typeface="Arial"/>
              </a:rPr>
              <a:t> CP no requiere distribuciones a priori.</a:t>
            </a:r>
          </a:p>
          <a:p>
            <a:pPr algn="l">
              <a:spcAft>
                <a:spcPts val="600"/>
              </a:spcAft>
            </a:pPr>
            <a:r>
              <a:rPr b="1" sz="1600">
                <a:solidFill>
                  <a:srgbClr val="2D2D2D"/>
                </a:solidFill>
                <a:latin typeface="Arial"/>
              </a:rPr>
              <a:t>vs. Calibracion sola:</a:t>
            </a:r>
            <a:r>
              <a:rPr sz="1600">
                <a:solidFill>
                  <a:srgbClr val="2D2D2D"/>
                </a:solidFill>
                <a:latin typeface="Arial"/>
              </a:rPr>
              <a:t> la calibracion corrige nivel probabilistico; CP agrega banda de incertidumbre.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Vovk et al. (2022); Angelopoulos &amp; Bates (2023); Romano et al. (2019)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Cada prediccion se acompana de un intervalo cuyo ancho</a:t>
            </a:r>
            <a:br/>
            <a:r>
              <a:t>refleja la confianza del modelo en esa estimacion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164592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F4E79"/>
                </a:solidFill>
                <a:latin typeface="Arial"/>
              </a:defRPr>
            </a:pPr>
            <a:r>
              <a:t>Cliente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7AE60"/>
                </a:solidFill>
                <a:latin typeface="Arial"/>
              </a:defRPr>
            </a:pPr>
            <a:r>
              <a:t>PD 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[4%, 8%]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77777"/>
                </a:solidFill>
                <a:latin typeface="Arial"/>
              </a:defRPr>
            </a:pPr>
            <a:r>
              <a:t>Baja incertidumbre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097280"/>
            <a:ext cx="2560320" cy="164592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1887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F4E79"/>
                </a:solidFill>
                <a:latin typeface="Arial"/>
              </a:defRPr>
            </a:pPr>
            <a:r>
              <a:t>Cliente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PD 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1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[8%, 17%]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77777"/>
                </a:solidFill>
                <a:latin typeface="Arial"/>
              </a:defRPr>
            </a:pPr>
            <a:r>
              <a:t>Media incertidumbre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560320" cy="164592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887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F4E79"/>
                </a:solidFill>
                <a:latin typeface="Arial"/>
              </a:defRPr>
            </a:pPr>
            <a:r>
              <a:t>Cliente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0392B"/>
                </a:solidFill>
                <a:latin typeface="Arial"/>
              </a:defRPr>
            </a:pPr>
            <a:r>
              <a:t>PD 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7451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D2D2D"/>
                </a:solidFill>
                <a:latin typeface="Arial"/>
              </a:defRPr>
            </a:pPr>
            <a:r>
              <a:t>[5%, 28%]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77777"/>
                </a:solidFill>
                <a:latin typeface="Arial"/>
              </a:defRPr>
            </a:pPr>
            <a:r>
              <a:t>Alta incertidumbre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E75B6"/>
                </a:solidFill>
                <a:latin typeface="Arial"/>
              </a:defRPr>
            </a:pPr>
            <a:r>
              <a:t>Idea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El ancho del intervalo cambia segun la confianza del modelo en cada prediccion individual.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Calibracion responde: "cuanto riesgo hay?". CP responde: "con que confianza lo digo?".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En Mondrian, el cuantil se calcula por grado (A-G) para no ocultar subgrupos mal cubiertos.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AFD4"/>
                </a:solidFill>
                <a:latin typeface="Arial"/>
              </a:defRPr>
            </a:pPr>
            <a:r>
              <a:t>Seccion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2286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Seis fases secuenciales alineadas con CRISP-DM,</a:t>
            </a:r>
            <a:br/>
            <a:r>
              <a:t>desde revision bibliografica hasta evaluacion regulatoria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698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Revision Bibliografica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25880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Scopus, arXiv, Google Scholar (2005-2026)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39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0992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Construccion del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1.86M prestamos, 110 cols, splits 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500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Modelado Base y Calibracion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06039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LR baseline + CatBoost + Venn-Abers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799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39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990087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Conformal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46119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Mondrian PD, Adaptativo LGD, Split 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0332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3016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Evaluacion Comparativa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86200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Kupiec, Christoffersen, backtesting 35 meses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51960"/>
            <a:ext cx="109728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2702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F4E79"/>
                </a:solidFill>
                <a:latin typeface="Arial"/>
              </a:defRPr>
            </a:pPr>
            <a:r>
              <a:t>Impacto Regulatorio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526280"/>
            <a:ext cx="685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77777"/>
                </a:solidFill>
                <a:latin typeface="Arial"/>
              </a:defRPr>
            </a:pPr>
            <a:r>
              <a:t>ECL escenarios, Stages IFRS 9, SICR conformal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Cambio vs. anteproyecto: CatBoost como unico modelo (no XGBoost/LightGBM), seleccion automatica de calibrador, Mondrian como variante principal de CP.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Lending Club: 1.86M prestamos con separacion temporal estricta</a:t>
            </a:r>
            <a:br/>
            <a:r>
              <a:t>y gradiente de default A(5.6%) a G(47.7%)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Conjunto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Registros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Tasa Default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Entrenamiento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1,346,311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18.52%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2007-06 a 2017-03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Calibracion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237,584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22.20%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2017-03 a 2017-12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Test (OOT)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276,869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21.98%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2018-01 a 2020-09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default_rate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Separacion temporal OOT simula condiciones reales de produccion.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El shift de default (18.5% -&gt; 22%) incluye inicio de pandemia COVID-19.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22 variables con data leakage eliminadas (total_pymnt, recoveries, etc.).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42 features seleccionadas (9 categoricas, 27 numericas, 12 WOE).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AFD4"/>
                </a:solidFill>
                <a:latin typeface="Arial"/>
              </a:defRPr>
            </a:pPr>
            <a:r>
              <a:t>Seccion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2286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CatBoost calibrado con Venn-Abers logra AUC 0.7130 y ECE 0.0059</a:t>
            </a:r>
            <a:br/>
            <a:r>
              <a:t>— calibracion mejora calidad probabilistica sin perder discriminacion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Gini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D2-Brier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Reg. Logistica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-0.349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(default)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0.424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-0.211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-0.211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(calibrado)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0.423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0.155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+0.097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D2-Brier negativo = peor que predecir la prevalencia. Calibracion lo corrige a +0.097.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Venn-Abers seleccionado automaticamente via politica multi-fold temporal (4 folds).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ECE 0.0059 = excelente calibracion, pero aun no responde: con que confianza lo digo?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Evaluacion sobre 276,869 prestamos OOT (2018-01 a 2020-09).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Venn-Abers gana la seleccion automatica multi-fold temporal</a:t>
            </a:r>
            <a:br/>
            <a:r>
              <a:t>con el mejor ECE (0.00613) entre tres candidatos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Calibrador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Platt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0.1546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0.00839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Isotonic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0.1545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0.00625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Venn-Abers (ganador)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0.1545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0.00613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Seleccion automatica: 4 folds temporales, criterio Brier + AUC-guard (max -0.15pp).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Venn-Abers produce dos probabilidades (p0, p1) que acotan la probabilidad real.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Selector width promedio: 0.0005 — estimaciones muy estrechas (alta confianza).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Cambio vs. anteproyecto: se paso de evaluacion manual a politica automatica objetiva.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Mondrian Conformal logra 92.52% de cobertura global</a:t>
            </a:r>
            <a:br/>
            <a:r>
              <a:t>con 89.01% minima por grado al 90% de confianza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92024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Coverage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92.52%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051560"/>
            <a:ext cx="192024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09728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Coverage 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7160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95.93%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51560"/>
            <a:ext cx="192024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09728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Min. por 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37160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89.01%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051560"/>
            <a:ext cx="192024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Ancho 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37160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0.7546</a:t>
            </a:r>
          </a:p>
        </p:txBody>
      </p:sp>
      <p:pic>
        <p:nvPicPr>
          <p:cNvPr id="16" name="Picture 15" descr="coverage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457200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0" y="21945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Todos los grados superan 87% de cobertura.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Kupiec: p &lt; 0.001 (esperado con N=276K).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Christoffersen 90%: p_ind = 0.512 (violaciones independientes).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Sobrecobertura deseable en contexto regulatorio: subestimar incertidumbre es peor.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MAPIE 1.3.0 SplitConformalRegressor + ProbabilityRegressor wrapper por grado A-G.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Mondrian supera a Split Global en +30pp de cobertura minima</a:t>
            </a:r>
            <a:br/>
            <a:r>
              <a:t>por grado con intervalos 21% mas eficientes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Mondrian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Diferencia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Cobertura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89.84%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92.52%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+2.68 pp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Min. cobertura por grado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58.69%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89.01%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+30.32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Ancho medio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0.7546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-21.3%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overage_width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Global: 41.3% de grado G fuera del intervalo — invalida la garantia.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Mondrian calibra quantiles por grado: precisos en A-B, amplios en F-G.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Paradoja: mejor cobertura + intervalos mas estrechos (no hay trade-off).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Implicacion operativa: decisiones por segmento necesitan garantia por segmento.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La triada PD-LGD-EAD tiene cobertura conformal verificada</a:t>
            </a:r>
            <a:br/>
            <a:r>
              <a:t>— extension a LGD y EAD cierra vacio en la literatura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75B6"/>
                </a:solidFill>
                <a:latin typeface="Arial"/>
              </a:defRPr>
            </a:pPr>
            <a:r>
              <a:t>Benchmark de 4 variantes LGD (60,850 defaults)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Variante LGD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Cob. 90%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 Grado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Ancho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Two-stage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78.19%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53.56%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0.568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Direct split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78.64%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54.12%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0.568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Direct CQR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74.52%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70.51%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0.540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Adaptive grade-temporal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90.50%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90.47%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0.496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1097280"/>
            <a:ext cx="22860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EAD Cob.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17319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90.82%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03120"/>
            <a:ext cx="22860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4883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EAD Cob.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2316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95.28%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Solo adaptive_grade_temporal paso todos los guardrails de cobertura, sesgo y eficiencia.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LGD: variable continua en [0,1] con alta heteroscedasticidad por grado.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EAD: alta precision porque la exposicion es contractual (ancho medio $132.58 USD).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Arial"/>
              </a:rPr>
              <a:t>Contribucion: la mayoria de literatura (Bellotti, 2017) solo cubre PD, no LGD/EAD.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Los intervalos conformales revelan $798M de incertidumbre</a:t>
            </a:r>
            <a:br/>
            <a:r>
              <a:t>en provisiones ECL — impacto material en lectura regulatoria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Escenario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ECL (USD)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Uplift vs Base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PD utilizada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Baseline (PD puntual)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$1,001M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PD calibrada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Mild stress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$1,200M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+22.8%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PD + 0.5 x ancho CP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Adverse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$1,463M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PD + 0.75 x ancho CP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Severe (PD alta CP)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$1,799M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+83.3%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PD_high (95%)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1005840"/>
            <a:ext cx="22860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0515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3258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34.51%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22860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201167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Stage 2 (SICR)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28600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43.01%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22860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9718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77777"/>
                </a:solidFill>
                <a:latin typeface="Arial"/>
              </a:defRPr>
            </a:pPr>
            <a:r>
              <a:t>Stage 3 (impago)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24612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E75B6"/>
                </a:solidFill>
                <a:latin typeface="Arial"/>
              </a:defRPr>
            </a:pPr>
            <a:r>
              <a:t>22.48%</a:t>
            </a:r>
          </a:p>
        </p:txBody>
      </p:sp>
      <p:pic>
        <p:nvPicPr>
          <p:cNvPr id="14" name="Picture 13" descr="ifrs9_scenario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17520"/>
            <a:ext cx="457200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Innovacion: ancho CP (PD_high - PD_point) como senal adicional de SICR.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Un prestamo con intervalo amplio indica fragilidad, incluso si PD puntual no cambia.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Sin CP, el banco solo ve $1,001M sin saber si es robusto o fragil. CP cuantifica la incertidumbre.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AFD4"/>
                </a:solidFill>
                <a:latin typeface="Arial"/>
              </a:defRPr>
            </a:pPr>
            <a:r>
              <a:t>Seccion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Evaluacion y Cumplimiento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22860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Anteproyecto aprobado 4.5/5.0 — todos los ajustes solicitados</a:t>
            </a:r>
            <a:br/>
            <a:r>
              <a:t>fueron implementados con evidencia verificable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Observacion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Como se abordo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Pertinencia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Util y alineada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Coberturas &gt;90%, $814M incertidumbre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Planteamiento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Objetivos a mejorar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6 OE reformulados con impacto medible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Metodologia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Alcance riesgoso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unico + Mondrian focalizado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Innovacion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Novedosa integracion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CP triada PD-LGD-EAD + SICR conformal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Viabilidad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Cronograma ajustado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Profundidad &gt; amplitud, automatizacion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Comunicacion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Forma adecuada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Pruebas Kupiec/Christoffersen + tablas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Evaluador: Andres Felipe Garcia Ospina, 25 de febrero de 2026. Concepto: Aprobado con Ajustes.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Los cambios metodologicos respecto al anteproyecto</a:t>
            </a:r>
            <a:br/>
            <a:r>
              <a:t>fueron informados por resultados experimentales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Anteproyecto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Razon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Modelo 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1.2.8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NaN y categoricas nativos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Modelos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LR+XGB+LGB+CB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LR + CatBoost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Profundidad &gt; amplitud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Calibrador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Auto multi-fold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Venn-Abers gano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LGD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Split unico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 variantes + guardrails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Heteroscedasticidad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CP 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Split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Mondrian A-G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Min cov 58%-&gt;89%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Libreria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MAPIE (s/v)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MAPIE 1.3.0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SplitConformalRegressor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Todos los cambios documentados con justificacion en el documento tecnico (Tabla 4).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Los seis objetivos especificos se cumplieron con evidencia</a:t>
            </a:r>
            <a:br/>
            <a:r>
              <a:t>cuantitativa y entregables verificables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Evidencia clave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OE1: Marco teorico 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19 fuentes, 5 subsecciones, vacio PD-only identificado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OE2: Dataset OOT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1.35M/237K/277K, 22 vars leakage, 42 features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OE3: PD calibrado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AUC 0.7130, ECE 0.0059, Brier 0.155, KS 0.311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OE4: CP Mondrian PD/LGD/EAD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PD 92.52%, LGD 90.50%, EAD 90.82% cob.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OE5: Impacto IFRS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ECL $1,001M-$1,799M (+83.3%), SICR conformal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OE6: Lineamientos adopcion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Backtesting 35 meses, gate 7/13,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Resultado en CRISP-DM: tesis trazable de punta a punta, no coleccion de experimentos aislados.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Pipeline reproducible: DVC + MLflow + Streamlit (31 paginas de dashboard interactivo).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690 tests automatizados pasando (0 fallos, 0 skips).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CRISP-DM se uso como marco de ejecucion real, no como formalidad,</a:t>
            </a:r>
            <a:br/>
            <a:r>
              <a:t>con entregables concretos en cada fase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Fase CRISP-DM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Actividades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Entregables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1.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IFRS 9, Basilea III, gap identificado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Pregunta + 6 OE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2. Datos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EDA 2.9M registros, 140+ vars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Gradiente A-G, 22 vars leakage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3. Preparacion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Limpieza, FE (42 feats), 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3 splits + 3 datasets analiticos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4. Modelado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LR + CatBoost + Venn-Abers + Mondrian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AUC 0.713, cob. 92.52%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5. Evaluacion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Kupiec, Christoffersen, backtesting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+30pp Mondrian vs Global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6. Despliegue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Streamlit 31pp, DVC pipeline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Dashboard + gobernanza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Cada fase tiene artefactos verificables. Los gaps son transparentes, no ocultos.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Las cinco variables mas importantes son consistentes con la</a:t>
            </a:r>
            <a:br/>
            <a:r>
              <a:t>literatura de riesgo crediticio y refuerzan la interpretabilidad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 sz="1500">
                <a:solidFill>
                  <a:srgbClr val="2D2D2D"/>
                </a:solidFill>
                <a:latin typeface="Arial"/>
              </a:rPr>
              <a:t>int_rate:</a:t>
            </a:r>
            <a:r>
              <a:rPr sz="1500">
                <a:solidFill>
                  <a:srgbClr val="2D2D2D"/>
                </a:solidFill>
                <a:latin typeface="Arial"/>
              </a:rPr>
              <a:t> mayor tasa = mayor riesgo (pricing refleja scoring previo).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D2D2D"/>
                </a:solidFill>
                <a:latin typeface="Arial"/>
              </a:rPr>
              <a:t>grade/sub_grade:</a:t>
            </a:r>
            <a:r>
              <a:rPr sz="1500">
                <a:solidFill>
                  <a:srgbClr val="2D2D2D"/>
                </a:solidFill>
                <a:latin typeface="Arial"/>
              </a:rPr>
              <a:t> gradiente de riesgo confirmado por SHAP.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D2D2D"/>
                </a:solidFill>
                <a:latin typeface="Arial"/>
              </a:rPr>
              <a:t>term:</a:t>
            </a:r>
            <a:r>
              <a:rPr sz="1500">
                <a:solidFill>
                  <a:srgbClr val="2D2D2D"/>
                </a:solidFill>
                <a:latin typeface="Arial"/>
              </a:rPr>
              <a:t> 60 meses = mayor riesgo que 36 meses.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D2D2D"/>
                </a:solidFill>
                <a:latin typeface="Arial"/>
              </a:rPr>
              <a:t>fico_score:</a:t>
            </a:r>
            <a:r>
              <a:rPr sz="1500">
                <a:solidFill>
                  <a:srgbClr val="2D2D2D"/>
                </a:solidFill>
                <a:latin typeface="Arial"/>
              </a:rPr>
              <a:t> score crediticio como factor protector.</a:t>
            </a:r>
          </a:p>
          <a:p>
            <a:pPr algn="l">
              <a:spcAft>
                <a:spcPts val="600"/>
              </a:spcAft>
            </a:pPr>
            <a:r>
              <a:rPr b="1" sz="1500">
                <a:solidFill>
                  <a:srgbClr val="2D2D2D"/>
                </a:solidFill>
                <a:latin typeface="Arial"/>
              </a:rPr>
              <a:t>dti:</a:t>
            </a:r>
            <a:r>
              <a:rPr sz="1500">
                <a:solidFill>
                  <a:srgbClr val="2D2D2D"/>
                </a:solidFill>
                <a:latin typeface="Arial"/>
              </a:rPr>
              <a:t> razon deuda-ingreso como indicador de fragilidad.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SHAP values calculados sobre CatBoost tuned. Top 10 features mostradas.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A0BBDD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8229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>1. Calibracion y CP son complementarios: calibracion responde "cuanto riesgo hay"; CP responde "con que confianza lo digo". Venn-Abers redujo ECE a 0.0059.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>2. Mondrian supera a Split Global: +30pp en cobertura minima por grado (89% vs 59%) con intervalos 21% mas eficientes. La garantia solo promedio es insuficiente.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>3. Extension exitosa a la triada PD-LGD-EAD: PD 92.52%, LGD 90.50%, EAD 90.82%. Cierra vacio en literatura que solo cubria PD.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Arial"/>
              </a:rPr>
              <a:t>4. Impacto material en IFRS 9: rango ECL de $798M (+83.3%) cuantifica incertidumbre en provisiones. Ancho conformal propuesto como senal SICR.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BBDD"/>
                </a:solidFill>
                <a:latin typeface="Arial"/>
              </a:defRPr>
            </a:pPr>
            <a:r>
              <a:t>carlos.vergara@utp.edu.co  |  Repositorio: github.com/cavr/lending-club-risk-project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Lineas futuras: de la especializacion a la maestria</a:t>
            </a:r>
            <a:br/>
            <a:r>
              <a:t>y la adopcion en entornos bancarios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b="1" sz="1700">
                <a:solidFill>
                  <a:srgbClr val="2D2D2D"/>
                </a:solidFill>
                <a:latin typeface="Arial"/>
              </a:rPr>
              <a:t>CP Adaptativa (ACI):</a:t>
            </a:r>
            <a:r>
              <a:rPr sz="1700">
                <a:solidFill>
                  <a:srgbClr val="2D2D2D"/>
                </a:solidFill>
                <a:latin typeface="Arial"/>
              </a:rPr>
              <a:t> Ajustar quantiles dinamicamente ante cambios en la distribucion (no estacionariedad financiera).</a:t>
            </a:r>
          </a:p>
          <a:p>
            <a:pPr algn="l">
              <a:spcAft>
                <a:spcPts val="1200"/>
              </a:spcAft>
            </a:pPr>
            <a:r>
              <a:rPr b="1" sz="1700">
                <a:solidFill>
                  <a:srgbClr val="2D2D2D"/>
                </a:solidFill>
                <a:latin typeface="Arial"/>
              </a:rPr>
              <a:t>Optimizacion robusta de portafolio:</a:t>
            </a:r>
            <a:r>
              <a:rPr sz="1700">
                <a:solidFill>
                  <a:srgbClr val="2D2D2D"/>
                </a:solidFill>
                <a:latin typeface="Arial"/>
              </a:rPr>
              <a:t> Usar intervalos conformales como conjuntos de incertidumbre en formulaciones de Pyomo/HiGHS.</a:t>
            </a:r>
          </a:p>
          <a:p>
            <a:pPr algn="l">
              <a:spcAft>
                <a:spcPts val="1200"/>
              </a:spcAft>
            </a:pPr>
            <a:r>
              <a:rPr b="1" sz="1700">
                <a:solidFill>
                  <a:srgbClr val="2D2D2D"/>
                </a:solidFill>
                <a:latin typeface="Arial"/>
              </a:rPr>
              <a:t>CP online / streaming:</a:t>
            </a:r>
            <a:r>
              <a:rPr sz="1700">
                <a:solidFill>
                  <a:srgbClr val="2D2D2D"/>
                </a:solidFill>
                <a:latin typeface="Arial"/>
              </a:rPr>
              <a:t> Pipeline de decisiones de credito en tiempo real con actualizaciones incrementales.</a:t>
            </a:r>
          </a:p>
          <a:p>
            <a:pPr algn="l">
              <a:spcAft>
                <a:spcPts val="1200"/>
              </a:spcAft>
            </a:pPr>
            <a:r>
              <a:rPr b="1" sz="1700">
                <a:solidFill>
                  <a:srgbClr val="2D2D2D"/>
                </a:solidFill>
                <a:latin typeface="Arial"/>
              </a:rPr>
              <a:t>Extension IFRS 9:</a:t>
            </a:r>
            <a:r>
              <a:rPr sz="1700">
                <a:solidFill>
                  <a:srgbClr val="2D2D2D"/>
                </a:solidFill>
                <a:latin typeface="Arial"/>
              </a:rPr>
              <a:t> Validar ancho conformal como senal primaria de SICR en portafolios bancarios reales.</a:t>
            </a:r>
          </a:p>
          <a:p>
            <a:pPr algn="l">
              <a:spcAft>
                <a:spcPts val="1200"/>
              </a:spcAft>
            </a:pPr>
            <a:r>
              <a:rPr b="1" sz="1700">
                <a:solidFill>
                  <a:srgbClr val="2D2D2D"/>
                </a:solidFill>
                <a:latin typeface="Arial"/>
              </a:rPr>
              <a:t>Validacion multi-mercado:</a:t>
            </a:r>
            <a:r>
              <a:rPr sz="1700">
                <a:solidFill>
                  <a:srgbClr val="2D2D2D"/>
                </a:solidFill>
                <a:latin typeface="Arial"/>
              </a:rPr>
              <a:t> Aplicar framework a hipotecas, tarjetas y prestamos corporativos.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Arial"/>
              </a:defRPr>
            </a:pPr>
            <a:r>
              <a:t>Las tres primeras lineas corresponden al plan de maestria (ya en desarrollo).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F4E79"/>
                </a:solidFill>
                <a:latin typeface="Arial"/>
              </a:defRPr>
            </a:pPr>
            <a:r>
              <a:t>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[1] Angelopoulos &amp; Bates (2023). A Gentle Introduction to Conformal Prediction. FnTML, 16(4), 494-591.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[2] Baesens, Roesch &amp; Scheule (2016). Credit Risk Analytics. Wiley.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[3] Basel Committee (2006). International Convergence of Capital Measurement.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[4] Bellotti (2017). Reliable region predictions for automated credit scoring. COPA, PMLR.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[5] Deloitte (2020). IFRS 9 and Expected Credit Loss: Modelling Challenges.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[6] Fontana, Zeni &amp; Vantini (2023). Conformal Prediction: Unified Review. Bernoulli, 29(1).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[7] IASB (2014). IFRS 9 Financial Instruments.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[8] Javanmardi &amp; Vovk (2023). Multi probability predictions with Venn-Abers. COPA, PMLR.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[9] Lessmann et al. (2015). Benchmarking classification for credit scoring. EJOR, 247(1).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[10] Niculescu-Mizil &amp; Caruana (2005). Predicting good probabilities. ICML.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[11] Platt (1999). Probabilistic Outputs for SVMs. MIT Press.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[12] Romano, Patterson &amp; Candes (2019). Conformalized Quantile Regression. NeurIPS.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[13] Vovk, Gammerman &amp; Shafer (2022). Algorithmic Learning in a Random World, 2nd ed. Springer.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[14] Vovk &amp; Petej (2014). Venn-Abers Predictors. UAI.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D2D2D"/>
                </a:solidFill>
                <a:latin typeface="Arial"/>
              </a:rPr>
              <a:t>[15] MAPIE Contributors (2023). MAPIE: Model Agnostic Prediction Interval Estimator.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77777"/>
                </a:solidFill>
                <a:latin typeface="Arial"/>
              </a:defRPr>
            </a:pPr>
            <a:r>
              <a:t>Apendice A — Tests estadisticos de calibracion conformal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Tests formales confirman cobertura valida con independencia</a:t>
            </a:r>
            <a:br/>
            <a:r>
              <a:t>de violaciones en el tiempo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Nivel 90%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Nivel 95%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Interpretacion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Kupiec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Rechaza cobertura exacta (N=276K)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Christoffersen p_ind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0.512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Violaciones independientes (90%)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KS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0.000427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Sensibilidad a desviaciones finas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Kuiper p-value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0.000153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Confirma calibracion precisa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Spiegelhalter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1.28e-06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Alta sensibilidad estadistica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Con N=276K, incluso desviaciones de 1.76pp son significativas. Lo relevante: cobertura supera el objetivo.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Christoffersen confirma que las violaciones no se agrupan temporalmente (p=0.512 &gt; 0.05).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77777"/>
                </a:solidFill>
                <a:latin typeface="Arial"/>
              </a:defRPr>
            </a:pPr>
            <a:r>
              <a:t>Apendice B — Stack tecnologico y reproducibilidad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Pipeline completamente reproducible con 690 tests,</a:t>
            </a:r>
            <a:br/>
            <a:r>
              <a:t>DVC, MLflow y dashboard Streamlit de 31 paginas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Herramientas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ML / 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CatBoost 1.2.8, scikit-learn 1.6.1, Optuna 4.7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Conformal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MAPIE 1.3.0 (SplitConformalRegressor, Mondrian)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Evaluacion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Kupiec, Christoffersen, Winkler Score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Datos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pandas, numpy, pandera (validacion de esquemas)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Visualizacion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matplotlib, seaborn, SHAP 0.48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Desarrollo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Python 3.12, uv, ruff, pytest 690 tests, loguru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DVC, MLflow, Streamlit (31 paginas)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Todo el codigo fuente, notebooks y artefactos estan documentados para reproduccion completa.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Pre-commit: ruff lint+format, nbstripout, trailing-whitespace, check-yaml/toml.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77777"/>
                </a:solidFill>
                <a:latin typeface="Arial"/>
              </a:defRPr>
            </a:pPr>
            <a:r>
              <a:t>Apendice C — Simulacion Monte Carlo de ECL con 16,384 escenarios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4E79"/>
                </a:solidFill>
                <a:latin typeface="Arial"/>
              </a:defRPr>
            </a:pPr>
            <a:r>
              <a:t>Distribucion de cola del ECL confirma que el escenario severo</a:t>
            </a:r>
            <a:br/>
            <a:r>
              <a:t>es consistente con la simulacion estocastica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4572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Estadistico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Media ECL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$1,059.8M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P50 (Mediana)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$997.3M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$1,571.5M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$1,748.6M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$2,111.9M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Expected Shortfall (ES@95%)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$1,975.3M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137160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16,384 escenarios simulados con seed=42.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ES@95%: $1,975M — perdida esperada dado que se supera P95.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Rango intercuartilico: $762M de incertidumbre intrinseca.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Arial"/>
              </a:rPr>
              <a:t>GPU speedup vs CPU: 75.58x.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